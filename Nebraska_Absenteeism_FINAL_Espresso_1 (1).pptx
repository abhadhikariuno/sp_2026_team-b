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69" r:id="rId15"/>
    <p:sldId id="270" r:id="rId16"/>
    <p:sldId id="274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94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38912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DSCI/STAT 8950 · Data Science Capstone  ·  UNO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44805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Nebraska K–12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Absenteeism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" y="3547872"/>
            <a:ext cx="2011680" cy="310896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5478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2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TWO-SCALE ML STUDY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&amp; School-level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3434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Adhikari  ·  Nilesh Purnekar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30368" y="384048"/>
            <a:ext cx="1719072" cy="1481328"/>
          </a:xfrm>
          <a:prstGeom prst="rect">
            <a:avLst/>
          </a:prstGeom>
          <a:solidFill>
            <a:srgbClr val="221608"/>
          </a:solidFill>
          <a:ln w="12700">
            <a:solidFill>
              <a:srgbClr val="6C4FC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30368" y="384048"/>
            <a:ext cx="1719072" cy="54864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30368" y="493776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30368" y="128016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analyzed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0368" y="15544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Policy-scale study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384048"/>
            <a:ext cx="1719072" cy="1481328"/>
          </a:xfrm>
          <a:prstGeom prst="rect">
            <a:avLst/>
          </a:prstGeom>
          <a:solidFill>
            <a:srgbClr val="221608"/>
          </a:solidFill>
          <a:ln w="12700">
            <a:solidFill>
              <a:srgbClr val="38B27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0" y="384048"/>
            <a:ext cx="1719072" cy="54864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493776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132320" y="128016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analyzed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0" y="15544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Intervention-scale study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30368" y="1993392"/>
            <a:ext cx="1719072" cy="1481328"/>
          </a:xfrm>
          <a:prstGeom prst="rect">
            <a:avLst/>
          </a:prstGeom>
          <a:solidFill>
            <a:srgbClr val="221608"/>
          </a:solidFill>
          <a:ln w="1270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0368" y="1993392"/>
            <a:ext cx="1719072" cy="54864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30368" y="2103120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1.68%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30368" y="288950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best RMSE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30368" y="3163824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Tuned — test set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0" y="1993392"/>
            <a:ext cx="1719072" cy="1481328"/>
          </a:xfrm>
          <a:prstGeom prst="rect">
            <a:avLst/>
          </a:prstGeom>
          <a:solidFill>
            <a:srgbClr val="221608"/>
          </a:solidFill>
          <a:ln w="1270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0" y="1993392"/>
            <a:ext cx="1719072" cy="54864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0" y="2103120"/>
            <a:ext cx="17190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81.4%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32320" y="288950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best R²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0" y="3163824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test set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30368" y="3584448"/>
            <a:ext cx="3730752" cy="1371600"/>
          </a:xfrm>
          <a:prstGeom prst="rect">
            <a:avLst/>
          </a:prstGeom>
          <a:solidFill>
            <a:srgbClr val="221608"/>
          </a:solidFill>
          <a:ln w="5080">
            <a:solidFill>
              <a:srgbClr val="A89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85232" y="3639312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 of NDE data  ·  Same target variable  ·  Same poverty predictor (FRL%)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85232" y="4041648"/>
            <a:ext cx="3621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independently confirm: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 ·  Poverty is the #1 predictor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— Why Chronic Absenteeism Demands Attention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685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absenteeism</a:t>
            </a:r>
            <a:r>
              <a:rPr lang="en-US" sz="14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missing </a:t>
            </a:r>
            <a:r>
              <a:rPr lang="en-US" sz="14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 or more of the school year</a:t>
            </a:r>
            <a:r>
              <a:rPr lang="en-US" sz="14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 18+ days.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11480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1280160"/>
            <a:ext cx="16642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6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30552" y="1307592"/>
            <a:ext cx="0" cy="9601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1335024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students chronically absent each year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11480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1280160"/>
            <a:ext cx="16642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48.3%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73952" y="1307592"/>
            <a:ext cx="0" cy="9601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335024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absenteeism in a single Nebraska school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2615184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615184"/>
            <a:ext cx="411480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2724912"/>
            <a:ext cx="16642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14.9%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130552" y="2752344"/>
            <a:ext cx="0" cy="9601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40280" y="277977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average across all study schools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615184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615184"/>
            <a:ext cx="411480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724912"/>
            <a:ext cx="16642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$15.8M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73952" y="2752344"/>
            <a:ext cx="0" cy="9601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277977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funding at risk in Nebraska over 7 years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4279392"/>
            <a:ext cx="8503920" cy="658368"/>
          </a:xfrm>
          <a:prstGeom prst="rect">
            <a:avLst/>
          </a:prstGeom>
          <a:solidFill>
            <a:srgbClr val="C8820A">
              <a:alpha val="12000"/>
            </a:srgbClr>
          </a:solidFill>
          <a:ln w="1016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2976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caused chronic rates to nearly double (8.5% → 20.1%). Nebraska has not fully recovered — 2024-25 still at 13.1%, well above pre-pandemic levels.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 — A Two-Scale Analytical Framework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3310128" cy="416052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3310128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749808"/>
            <a:ext cx="3310128" cy="457200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76809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0058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Policy-Scale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1563624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1389888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Nebraska school districts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2075688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1901952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years: 2018-19 → 2024-25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2587752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41401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chronic rate % per district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" y="3099816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2926080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gradient-boosting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611880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43814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RMSE: ~1.68 percentage points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24528"/>
            <a:ext cx="2944368" cy="457200"/>
          </a:xfrm>
          <a:prstGeom prst="rect">
            <a:avLst/>
          </a:prstGeom>
          <a:solidFill>
            <a:srgbClr val="6C4FCC">
              <a:alpha val="15000"/>
            </a:srgbClr>
          </a:solidFill>
          <a:ln w="889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before year ends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76672" y="749808"/>
            <a:ext cx="3310128" cy="416052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76672" y="749808"/>
            <a:ext cx="3310128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76672" y="749808"/>
            <a:ext cx="3310128" cy="457200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0" y="76809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LEVEL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10058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Intervention-Scale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41264" y="1563624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24144" y="1389888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Nebraska schools matched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41264" y="2075688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24144" y="1901952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counties across the state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41264" y="2587752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24144" y="241401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chronic absent rate per school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41264" y="3099816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24144" y="2926080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models from linear → neural net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41264" y="3611880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24144" y="343814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R²: 0.814 (81.4% variance)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59552" y="4224528"/>
            <a:ext cx="2944368" cy="457200"/>
          </a:xfrm>
          <a:prstGeom prst="rect">
            <a:avLst/>
          </a:prstGeom>
          <a:solidFill>
            <a:srgbClr val="38B272">
              <a:alpha val="15000"/>
            </a:srgbClr>
          </a:solidFill>
          <a:ln w="889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59552" y="4224528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+ geographic mapping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749808"/>
            <a:ext cx="1600200" cy="4160520"/>
          </a:xfrm>
          <a:prstGeom prst="rect">
            <a:avLst/>
          </a:prstGeom>
          <a:solidFill>
            <a:srgbClr val="1A1008"/>
          </a:solidFill>
          <a:ln w="1016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03320" y="749808"/>
            <a:ext cx="1600200" cy="4572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76809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100584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12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13048" y="1335024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59352" y="129844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 data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13048" y="1810512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59352" y="177393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signal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13048" y="2286000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59352" y="224942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test split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13048" y="2761488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59352" y="27249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13048" y="3236976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59352" y="32004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target: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absent 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813048" y="3712464"/>
            <a:ext cx="91440" cy="914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59352" y="367588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both scales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Foundation — 3 Sources · 14 Files · 7 Years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69748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" cy="384048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8503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&amp; Reduced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Lunch (FRL)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 files — FRL eligibility counts per school and district per year. Primary socioeconomic proxy variable.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72968" y="7772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777240"/>
            <a:ext cx="269748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868680"/>
            <a:ext cx="384048" cy="384048"/>
          </a:xfrm>
          <a:prstGeom prst="ellipse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8503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Membership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0128" y="1389888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146304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 — Total students enrolled per school. Includes grade level, school type, and county information.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5896" y="7772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25896" y="777240"/>
            <a:ext cx="269748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3056" y="868680"/>
            <a:ext cx="384048" cy="384048"/>
          </a:xfrm>
          <a:prstGeom prst="ellipse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63056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47688" y="8503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Absence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1389888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63056" y="146304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annual reports — Chronic absenteeism rate per district and school, merged via DIST_KEY identifier.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dataset: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1993392" cy="658368"/>
          </a:xfrm>
          <a:prstGeom prst="rect">
            <a:avLst/>
          </a:prstGeom>
          <a:solidFill>
            <a:srgbClr val="FBF2DC"/>
          </a:solidFill>
          <a:ln w="762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31927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0040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96312" y="3310128"/>
            <a:ext cx="1993392" cy="658368"/>
          </a:xfrm>
          <a:prstGeom prst="rect">
            <a:avLst/>
          </a:prstGeom>
          <a:solidFill>
            <a:srgbClr val="FBF2DC"/>
          </a:solidFill>
          <a:ln w="762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96312" y="331927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1,715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496312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District-years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72584" y="3310128"/>
            <a:ext cx="1993392" cy="658368"/>
          </a:xfrm>
          <a:prstGeom prst="rect">
            <a:avLst/>
          </a:prstGeom>
          <a:solidFill>
            <a:srgbClr val="FBF2DC"/>
          </a:solidFill>
          <a:ln w="762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72584" y="331927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672584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48856" y="3310128"/>
            <a:ext cx="1993392" cy="658368"/>
          </a:xfrm>
          <a:prstGeom prst="rect">
            <a:avLst/>
          </a:prstGeom>
          <a:solidFill>
            <a:srgbClr val="FBF2DC"/>
          </a:solidFill>
          <a:ln w="762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48856" y="331927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48856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dataset: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297680"/>
            <a:ext cx="1993392" cy="658368"/>
          </a:xfrm>
          <a:prstGeom prst="rect">
            <a:avLst/>
          </a:prstGeom>
          <a:solidFill>
            <a:srgbClr val="EDFAF3"/>
          </a:solidFill>
          <a:ln w="762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43068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0040" y="46451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matched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96312" y="4297680"/>
            <a:ext cx="1993392" cy="658368"/>
          </a:xfrm>
          <a:prstGeom prst="rect">
            <a:avLst/>
          </a:prstGeom>
          <a:solidFill>
            <a:srgbClr val="EDFAF3"/>
          </a:solidFill>
          <a:ln w="762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496312" y="43068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496312" y="46451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rows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72584" y="4297680"/>
            <a:ext cx="1993392" cy="658368"/>
          </a:xfrm>
          <a:prstGeom prst="rect">
            <a:avLst/>
          </a:prstGeom>
          <a:solidFill>
            <a:srgbClr val="EDFAF3"/>
          </a:solidFill>
          <a:ln w="762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72584" y="43068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1,298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672584" y="46451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 panel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48856" y="4297680"/>
            <a:ext cx="1993392" cy="658368"/>
          </a:xfrm>
          <a:prstGeom prst="rect">
            <a:avLst/>
          </a:prstGeom>
          <a:solidFill>
            <a:srgbClr val="EDFAF3"/>
          </a:solidFill>
          <a:ln w="762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48856" y="43068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848856" y="46451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COVID-19 Caused a Dramatic Spike in Absenteeism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2801389"/>
            <a:ext cx="6675120" cy="0"/>
          </a:xfrm>
          <a:prstGeom prst="line">
            <a:avLst/>
          </a:prstGeom>
          <a:noFill/>
          <a:ln w="6350">
            <a:solidFill>
              <a:srgbClr val="2216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2691661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4672" y="2219498"/>
            <a:ext cx="6675120" cy="0"/>
          </a:xfrm>
          <a:prstGeom prst="line">
            <a:avLst/>
          </a:prstGeom>
          <a:noFill/>
          <a:ln w="6350">
            <a:solidFill>
              <a:srgbClr val="2216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210977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1637607"/>
            <a:ext cx="6675120" cy="0"/>
          </a:xfrm>
          <a:prstGeom prst="line">
            <a:avLst/>
          </a:prstGeom>
          <a:noFill/>
          <a:ln w="6350">
            <a:solidFill>
              <a:srgbClr val="2216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527879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1055716"/>
            <a:ext cx="6675120" cy="0"/>
          </a:xfrm>
          <a:prstGeom prst="line">
            <a:avLst/>
          </a:prstGeom>
          <a:noFill/>
          <a:ln w="6350">
            <a:solidFill>
              <a:srgbClr val="2216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94598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" y="2394065"/>
            <a:ext cx="566928" cy="989215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138033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0" y="2196223"/>
            <a:ext cx="566928" cy="1187057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45920" y="1940191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87168" y="1777261"/>
            <a:ext cx="566928" cy="1606019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87168" y="1521229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14016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28416" y="1044079"/>
            <a:ext cx="566928" cy="2339201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28416" y="788047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5264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9664" y="1463040"/>
            <a:ext cx="566928" cy="192024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69664" y="1207008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96512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10912" y="1730710"/>
            <a:ext cx="566928" cy="1652570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1474678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858726"/>
            <a:ext cx="566928" cy="1524554"/>
          </a:xfrm>
          <a:prstGeom prst="rect">
            <a:avLst/>
          </a:prstGeom>
          <a:solidFill>
            <a:srgbClr val="A896E8"/>
          </a:solidFill>
          <a:ln w="12700">
            <a:solidFill>
              <a:srgbClr val="A89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52160" y="160269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9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79008" y="34381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" y="3383280"/>
            <a:ext cx="6675120" cy="0"/>
          </a:xfrm>
          <a:prstGeom prst="line">
            <a:avLst/>
          </a:prstGeom>
          <a:noFill/>
          <a:ln w="8890">
            <a:solidFill>
              <a:srgbClr val="A89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71232" y="804672"/>
            <a:ext cx="1298448" cy="1115568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71232" y="804672"/>
            <a:ext cx="1298448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89520" y="8961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peak 2021-22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89520" y="117043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20.1%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89520" y="15544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7 years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71232" y="2130552"/>
            <a:ext cx="1298448" cy="1115568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571232" y="2130552"/>
            <a:ext cx="1298448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89520" y="22219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trend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89520" y="249631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declining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89520" y="288036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above pre-pandemic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71232" y="3456432"/>
            <a:ext cx="1298448" cy="1115568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71232" y="3456432"/>
            <a:ext cx="1298448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89520" y="354787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 rate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89520" y="38221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13.1%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89520" y="42062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above 2018-19 level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Higher Poverty Consistently Predicts Higher Absenteeism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8503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finding — confirmed at both district and school level: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11704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 eligibility (poverty proxy) is </a:t>
            </a:r>
            <a:r>
              <a:rPr lang="en-US" sz="14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positively correlated with chronic absenteeism</a:t>
            </a:r>
            <a:r>
              <a:rPr lang="en-US" sz="14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both district and school scale. Higher poverty = more missed school days.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1920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1920240" cy="54864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13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+0.42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" y="2999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— FRL% vs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absenteeism at school 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96312" y="2176272"/>
            <a:ext cx="1920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6C4FC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96312" y="2176272"/>
            <a:ext cx="1920240" cy="54864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96312" y="2313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496312" y="2999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FRL% across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study schools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2176272"/>
            <a:ext cx="1920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505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72584" y="2176272"/>
            <a:ext cx="1920240" cy="5486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72584" y="2313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72584" y="2999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absenteeism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across study schools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2176272"/>
            <a:ext cx="1920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38B27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48856" y="2176272"/>
            <a:ext cx="1920240" cy="54864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48856" y="2313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33.4%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48856" y="2999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FRL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at school level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269748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level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05993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r=0.42 Pearson correlation confirms FRL% is a reliable socioeconomic predictor across 73 schools in 10 counties.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72968" y="3657600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72968" y="3657600"/>
            <a:ext cx="269748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0128" y="3767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 level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0128" y="405993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is the top advance-available predictor — strongest single feature in the safe-feature early intervention model.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25896" y="3657600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25896" y="3657600"/>
            <a:ext cx="269748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63056" y="3767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agree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63056" y="405993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signal holds at every scale tested. Counties with high FRL% show high absenteeism statewide, confirmed by geographic mapping.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Approach — Shared Foundation, Complementary Scope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221608"/>
          </a:solidFill>
          <a:ln w="889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804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methodology: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91440" cy="91440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822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0" y="914400"/>
            <a:ext cx="91440" cy="91440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87952" y="822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914400"/>
            <a:ext cx="91440" cy="91440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3872" y="822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school 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914400"/>
            <a:ext cx="91440" cy="91440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79792" y="822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never seen during tuning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572768"/>
            <a:ext cx="4133088" cy="338328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1572768"/>
            <a:ext cx="4133088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66420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District-Level Models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— gradient boosting family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" y="2505456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" y="23591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Default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1208" y="2852928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" y="27066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Tuned (GridSearchCV)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1208" y="3200400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" y="30540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Default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1208" y="3547872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" y="3401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Tuned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1208" y="3895344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Default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21208" y="4242816"/>
            <a:ext cx="109728" cy="0"/>
          </a:xfrm>
          <a:prstGeom prst="line">
            <a:avLst/>
          </a:prstGeom>
          <a:noFill/>
          <a:ln w="254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" y="40965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Tuned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498848"/>
            <a:ext cx="3840480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53542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Test RMSE (percentage points — directly interpretable)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1572768"/>
            <a:ext cx="4133088" cy="338328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90872" y="1572768"/>
            <a:ext cx="4133088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166420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School-Level Models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828032" y="201168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models — full model spectrum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2505456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74920" y="23591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/ Lasso Regression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92040" y="2852928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27066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892040" y="3200400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74920" y="30540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92040" y="3547872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3401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92040" y="3895344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(default + tuned)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892040" y="4242816"/>
            <a:ext cx="109728" cy="0"/>
          </a:xfrm>
          <a:prstGeom prst="line">
            <a:avLst/>
          </a:prstGeom>
          <a:noFill/>
          <a:ln w="254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74920" y="40965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MLP Neural Network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828032" y="4498848"/>
            <a:ext cx="3840480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28032" y="453542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Test R² and RMSE  |  MedianImputer + StandardScaler pipeline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District-Level Results — 6 Gradient-Boosting Models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138160" cy="27523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E4C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D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4C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CV RMSE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D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4C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RMSE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D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4C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MAE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D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4C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R²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D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—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XGBoost — Tuned ★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4C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1.68%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4C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4C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—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— 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—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— 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0D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07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6C4FCC">
              <a:alpha val="10000"/>
            </a:srgbClr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502920" y="4251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XGBoost (Tuned) — lowest test RMSE of ~1.68 pp. A 1.68 pp error means predictions land within 1.68 percentage points of actual district absenteeism rates.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School-Level Results — 10 Models, Best R² = 0.814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229600" cy="3072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Train R²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R²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RMSE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XGBoost (default) ★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0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D0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0.8143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0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0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407408"/>
            <a:ext cx="8503920" cy="566928"/>
          </a:xfrm>
          <a:prstGeom prst="rect">
            <a:avLst/>
          </a:prstGeom>
          <a:solidFill>
            <a:srgbClr val="38B272">
              <a:alpha val="12000"/>
            </a:srgbClr>
          </a:solidFill>
          <a:ln w="1016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44256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Train R²=1.000 (perfect overfit)  ·  MLP: Test R²=-0.10 (insufficient data for deep learning)  ·  XGBoost: best generalization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Analyses Agree — Three Independent Confirmations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685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analysts. Two datasets. Two scales. The same conclusions emerged independently.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207008"/>
            <a:ext cx="384048" cy="384048"/>
          </a:xfrm>
          <a:prstGeom prst="ellipse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1225296"/>
            <a:ext cx="7699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wins at both scales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9264" y="1600200"/>
            <a:ext cx="7699248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9264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District: XGBoost Tuned — best test RMSE of ~1.68 pp across 244 districts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64208"/>
            <a:ext cx="0" cy="5029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XGBoost default — best test R² of 0.814 across 73 schools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850392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505456"/>
            <a:ext cx="384048" cy="384048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" y="2523744"/>
            <a:ext cx="7699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Poverty is the #1 predictor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9264" y="2898648"/>
            <a:ext cx="7699248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9264" y="29626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District: FRL% is the top advance-available feature in the early intervention 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62656"/>
            <a:ext cx="0" cy="5029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962656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FRL% + FRL_COUNT combined = 33.4% of XGBoost feature importance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694176"/>
            <a:ext cx="850392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" y="3803904"/>
            <a:ext cx="384048" cy="384048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9264" y="3822192"/>
            <a:ext cx="7699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 years are structural breaks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9264" y="4197096"/>
            <a:ext cx="7699248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9264" y="42611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District: 2020-22 identified as an outlier window in learning curves and per-year RMSE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261104"/>
            <a:ext cx="0" cy="50292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4261104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YEAR_NUM = 28.7% importance — COVID years dominate the temporal signal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Check — Train vs. Test Gap Across All Models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685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measures memorization. Test R² is the honest score. A large gap signals overfitting — the model learned noise, not pattern.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697480" cy="329184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69748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2697480" cy="438912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1338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(District, Tuned)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70078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170078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" y="2295144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45059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2450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4632" y="3044952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2004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0.021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76072" y="4069080"/>
            <a:ext cx="2176272" cy="256032"/>
          </a:xfrm>
          <a:prstGeom prst="rect">
            <a:avLst/>
          </a:prstGeom>
          <a:solidFill>
            <a:srgbClr val="38B272">
              <a:alpha val="18000"/>
            </a:srgbClr>
          </a:solidFill>
          <a:ln w="1016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406908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1115568"/>
            <a:ext cx="2697480" cy="329184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72968" y="1115568"/>
            <a:ext cx="269748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72968" y="1115568"/>
            <a:ext cx="2697480" cy="43891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82696" y="11338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(District, Default)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170078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1688" y="170078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337560" y="2295144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245059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2450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337560" y="3044952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32004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61688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0.063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29000" y="4069080"/>
            <a:ext cx="2176272" cy="256032"/>
          </a:xfrm>
          <a:prstGeom prst="rect">
            <a:avLst/>
          </a:prstGeom>
          <a:solidFill>
            <a:srgbClr val="E05050">
              <a:alpha val="18000"/>
            </a:srgbClr>
          </a:solidFill>
          <a:ln w="1016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25896" y="1115568"/>
            <a:ext cx="2697480" cy="3291840"/>
          </a:xfrm>
          <a:prstGeom prst="rect">
            <a:avLst/>
          </a:prstGeom>
          <a:solidFill>
            <a:srgbClr val="221608"/>
          </a:solidFill>
          <a:ln w="6350">
            <a:solidFill>
              <a:srgbClr val="1A100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25896" y="1115568"/>
            <a:ext cx="269748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25896" y="1115568"/>
            <a:ext cx="2697480" cy="43891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35624" y="11338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(School)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90488" y="170078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14616" y="170078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0E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190488" y="2295144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90488" y="245059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14616" y="24505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0.478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190488" y="3044952"/>
            <a:ext cx="2359152" cy="0"/>
          </a:xfrm>
          <a:prstGeom prst="line">
            <a:avLst/>
          </a:prstGeom>
          <a:noFill/>
          <a:ln w="635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0488" y="32004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14616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0.522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6281928" y="4069080"/>
            <a:ext cx="2176272" cy="256032"/>
          </a:xfrm>
          <a:prstGeom prst="rect">
            <a:avLst/>
          </a:prstGeom>
          <a:solidFill>
            <a:srgbClr val="E05050">
              <a:alpha val="18000"/>
            </a:srgbClr>
          </a:solidFill>
          <a:ln w="1016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81928" y="406908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overfit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" y="4462272"/>
            <a:ext cx="8503920" cy="530352"/>
          </a:xfrm>
          <a:prstGeom prst="rect">
            <a:avLst/>
          </a:prstGeom>
          <a:solidFill>
            <a:srgbClr val="221608"/>
          </a:solidFill>
          <a:ln w="762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" y="4480560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via GridSearchCV regularizes leaf-wise growth in LightGBM, closing the gap from 0.063 → ~0.02.  XGBoost generalizes best across both scales of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Absenteeism — Feature Importance at Both Scales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 level (XGBoost Tuned)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ABS15_RATE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170432"/>
            <a:ext cx="2103120" cy="22860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10789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ABS10_RATE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91640" y="1645920"/>
            <a:ext cx="970671" cy="22860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15544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0299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FRL_PCT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91640" y="2121408"/>
            <a:ext cx="444891" cy="2286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202996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50545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Log(Enroll)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2596896"/>
            <a:ext cx="202223" cy="228600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25054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98094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HS_Enroll%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91640" y="3072384"/>
            <a:ext cx="161778" cy="228600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0" y="29809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4564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91640" y="3547872"/>
            <a:ext cx="80889" cy="228600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34564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93192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IS_Urban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91640" y="4023360"/>
            <a:ext cx="40445" cy="228600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0" y="393192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749808"/>
            <a:ext cx="0" cy="4224528"/>
          </a:xfrm>
          <a:prstGeom prst="line">
            <a:avLst/>
          </a:prstGeom>
          <a:noFill/>
          <a:ln w="1016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level (XGBoost default)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0" y="107899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FRL_COUNT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3328" y="1170432"/>
            <a:ext cx="2091538" cy="2286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02752" y="107899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155448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YEAR_NUM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53328" y="1645920"/>
            <a:ext cx="2055724" cy="228600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02752" y="155448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20299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GRADE_ENC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53328" y="2121408"/>
            <a:ext cx="1274978" cy="228600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02752" y="202996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250545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COUNTY_ENC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53328" y="2596896"/>
            <a:ext cx="938327" cy="228600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02752" y="250545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298094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FRL_PERCENT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53328" y="3072384"/>
            <a:ext cx="300838" cy="2286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02752" y="298094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345643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SCHOOL_TYPE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53328" y="3547872"/>
            <a:ext cx="322326" cy="228600"/>
          </a:xfrm>
          <a:prstGeom prst="rect">
            <a:avLst/>
          </a:prstGeom>
          <a:solidFill>
            <a:srgbClr val="907858"/>
          </a:solidFill>
          <a:ln w="12700">
            <a:solidFill>
              <a:srgbClr val="907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02752" y="345643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393192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feats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53328" y="4023360"/>
            <a:ext cx="179070" cy="228600"/>
          </a:xfrm>
          <a:prstGeom prst="rect">
            <a:avLst/>
          </a:prstGeom>
          <a:solidFill>
            <a:srgbClr val="907858"/>
          </a:solidFill>
          <a:ln w="12700">
            <a:solidFill>
              <a:srgbClr val="907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302752" y="393192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C8820A">
              <a:alpha val="12000"/>
            </a:srgbClr>
          </a:solidFill>
          <a:ln w="1016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" y="454456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(FRL) is the #1 actionable predictor at both scales  ·  Combined FRL impact at school level: 33.4%  ·  District safe-feature model: FRL_PCT ranks first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0C0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09801" y="109728"/>
            <a:ext cx="54864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00B090"/>
                </a:solidFill>
                <a:latin typeface="Calibri"/>
              </a:rPr>
              <a:t>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801" y="301752"/>
            <a:ext cx="8503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$15.8 Million in Education Funding at Risk Over 7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1" y="836676"/>
            <a:ext cx="9141714" cy="37719"/>
          </a:xfrm>
          <a:prstGeom prst="rect">
            <a:avLst/>
          </a:prstGeom>
          <a:solidFill>
            <a:srgbClr val="00B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6" name="Picture 5" descr="chart_slide15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15" y="891540"/>
            <a:ext cx="5980176" cy="38953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76261" y="891540"/>
            <a:ext cx="2674620" cy="3895344"/>
          </a:xfrm>
          <a:prstGeom prst="rect">
            <a:avLst/>
          </a:prstGeom>
          <a:solidFill>
            <a:srgbClr val="0C0806"/>
          </a:solidFill>
          <a:ln w="19050">
            <a:solidFill>
              <a:srgbClr val="00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6276261" y="891540"/>
            <a:ext cx="2674620" cy="342900"/>
          </a:xfrm>
          <a:prstGeom prst="rect">
            <a:avLst/>
          </a:prstGeom>
          <a:solidFill>
            <a:srgbClr val="0A0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6358557" y="953263"/>
            <a:ext cx="253746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00C48A"/>
                </a:solidFill>
                <a:latin typeface="Calibri"/>
              </a:rPr>
              <a:t>HOW WE CALCULATED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8557" y="1289304"/>
            <a:ext cx="2510028" cy="89154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6358557" y="1289304"/>
            <a:ext cx="48006" cy="891540"/>
          </a:xfrm>
          <a:prstGeom prst="rect">
            <a:avLst/>
          </a:prstGeom>
          <a:solidFill>
            <a:srgbClr val="C88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Oval 11"/>
          <p:cNvSpPr/>
          <p:nvPr/>
        </p:nvSpPr>
        <p:spPr>
          <a:xfrm>
            <a:off x="6440853" y="1412748"/>
            <a:ext cx="246888" cy="246888"/>
          </a:xfrm>
          <a:prstGeom prst="ellipse">
            <a:avLst/>
          </a:prstGeom>
          <a:solidFill>
            <a:srgbClr val="C88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440853" y="1399032"/>
            <a:ext cx="246888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C080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2605" y="1357884"/>
            <a:ext cx="2091690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3" b="1">
                <a:solidFill>
                  <a:srgbClr val="FFFFFF"/>
                </a:solidFill>
                <a:latin typeface="Calibri"/>
              </a:rPr>
              <a:t>Identify At-Risk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2605" y="1591056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B0A4DC"/>
                </a:solidFill>
                <a:latin typeface="Calibri"/>
              </a:rPr>
              <a:t>Count students missing 10% or
more of school days per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6411" y="2194560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00C48A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8557" y="2441448"/>
            <a:ext cx="2510028" cy="89154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6358557" y="2441448"/>
            <a:ext cx="48006" cy="8915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Oval 18"/>
          <p:cNvSpPr/>
          <p:nvPr/>
        </p:nvSpPr>
        <p:spPr>
          <a:xfrm>
            <a:off x="6440853" y="2564892"/>
            <a:ext cx="246888" cy="246888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6440853" y="2551176"/>
            <a:ext cx="246888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C0806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2605" y="2510028"/>
            <a:ext cx="2091690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3" b="1">
                <a:solidFill>
                  <a:srgbClr val="FFFFFF"/>
                </a:solidFill>
                <a:latin typeface="Calibri"/>
              </a:rPr>
              <a:t>Apply Per-Pupil Spending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2605" y="274320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B0A4DC"/>
                </a:solidFill>
                <a:latin typeface="Calibri"/>
              </a:rPr>
              <a:t>Nebraska avg per-pupil
expendiure = $12,500 /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6411" y="3346704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00C48A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8557" y="3593592"/>
            <a:ext cx="2510028" cy="89154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6358557" y="3593592"/>
            <a:ext cx="48006" cy="8915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Oval 25"/>
          <p:cNvSpPr/>
          <p:nvPr/>
        </p:nvSpPr>
        <p:spPr>
          <a:xfrm>
            <a:off x="6440853" y="3717036"/>
            <a:ext cx="246888" cy="246888"/>
          </a:xfrm>
          <a:prstGeom prst="ellipse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6440853" y="3703320"/>
            <a:ext cx="246888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2605" y="3662172"/>
            <a:ext cx="2091690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3" b="1">
                <a:solidFill>
                  <a:srgbClr val="FFFFFF"/>
                </a:solidFill>
                <a:latin typeface="Calibri"/>
              </a:rPr>
              <a:t>Apply 10% Absence 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2605" y="3895344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B0A4DC"/>
                </a:solidFill>
                <a:latin typeface="Calibri"/>
              </a:rPr>
              <a:t>Multiply by 10% — the minimum
threshold to be chronically absent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6261" y="4389120"/>
            <a:ext cx="2674620" cy="397764"/>
          </a:xfrm>
          <a:prstGeom prst="rect">
            <a:avLst/>
          </a:prstGeom>
          <a:solidFill>
            <a:srgbClr val="00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6358557" y="4450842"/>
            <a:ext cx="2537460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3" b="1">
                <a:solidFill>
                  <a:srgbClr val="FFFFFF"/>
                </a:solidFill>
                <a:latin typeface="Calibri"/>
              </a:rPr>
              <a:t>Students × $12,500 × 10% =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215" y="4924045"/>
            <a:ext cx="54864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 dirty="0">
                <a:solidFill>
                  <a:srgbClr val="00B090"/>
                </a:solidFill>
                <a:latin typeface="Calibri"/>
              </a:rPr>
              <a:t>School-Level Analysis   |   Nilesh Purnekar   |   UNO Capstone</a:t>
            </a:r>
            <a:r>
              <a:rPr lang="en-US" sz="713" dirty="0">
                <a:solidFill>
                  <a:srgbClr val="00B090"/>
                </a:solidFill>
                <a:latin typeface="Calibri"/>
              </a:rPr>
              <a:t> 2026</a:t>
            </a:r>
            <a:endParaRPr sz="713" dirty="0">
              <a:solidFill>
                <a:srgbClr val="00B09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76261" y="4924044"/>
            <a:ext cx="26746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5A4A90"/>
                </a:solidFill>
                <a:latin typeface="Calibri"/>
              </a:rPr>
              <a:t>Source: Nebraska Dept of Education (2018–2025)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Classification — Identifying Schools That Need Action Now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26974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269748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503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20% absenteeism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schools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immediate intervention. Predominantly rural counties. Model flags these before year-end using safe features.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749808"/>
            <a:ext cx="26974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72968" y="749808"/>
            <a:ext cx="269748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8503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2968" y="11704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23.9%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310128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12–20% absenteeism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2414016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schools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76148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monitoring required. Early warning signals present. Poverty and grade level are primary drivers.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25896" y="749808"/>
            <a:ext cx="26974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25896" y="749808"/>
            <a:ext cx="269748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8503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RISK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25896" y="11704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53.1%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163056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12% absenteeism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2414016"/>
            <a:ext cx="2423160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63056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schools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3056" y="276148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well relative to peers. Can serve as best-practice benchmarks for intervention design.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" y="3776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model (district level)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" y="40965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district-level XGBoost model using 7 advance-available features (FRL%, enrollment, grade mix, urban flag) can flag high-risk districts before the school year ends — enabling pre-emptive resource allocation rather than reactive response.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55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936F"/>
                </a:solidFill>
              </a:rPr>
              <a:t>GEOGRAPHIC 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Poverty Maps to Absenteeism Statewide — Pattern Confirmed Across All 93 Counties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329184"/>
          </a:xfrm>
          <a:prstGeom prst="rect">
            <a:avLst/>
          </a:prstGeom>
          <a:solidFill>
            <a:srgbClr val="7B3A0A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24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 &amp; Reduced Lunch % by County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35024"/>
            <a:ext cx="4160520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53128" y="2514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936F"/>
                </a:solidFill>
              </a:rPr>
              <a:t>=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60520" cy="329184"/>
          </a:xfrm>
          <a:prstGeom prst="rect">
            <a:avLst/>
          </a:prstGeom>
          <a:solidFill>
            <a:srgbClr val="7B3A0A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1024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Predicted Absenteeism Risk by County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35024"/>
            <a:ext cx="4160520" cy="2651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4096512"/>
            <a:ext cx="219456" cy="219456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49808" y="4087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High Risk / High Poverty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91840" y="4096512"/>
            <a:ext cx="219456" cy="219456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584448" y="4087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Medium Risk / Medium Poverty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4096512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19088" y="4087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Low Risk / Low Poverty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28600" y="4407408"/>
            <a:ext cx="8686800" cy="502920"/>
          </a:xfrm>
          <a:prstGeom prst="rect">
            <a:avLst/>
          </a:prstGeom>
          <a:solidFill>
            <a:srgbClr val="1A1208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65760" y="44348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The left map shows FRL% (poverty) by county — red = most low-income students. The right map shows our model's predicted absenteeism risk. Near-identical patterns directly confirm: where poverty is high, chronic absenteeism is high.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9070"/>
                </a:solidFill>
              </a:rPr>
              <a:t>Abhinav Adhikari  ·  Nilesh Purnekar  ·  DSCI/STAT 8950  ·  University of Nebraska Omaha  ·  Spring 2026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0806"/>
          </a:solidFill>
          <a:ln w="12700">
            <a:solidFill>
              <a:srgbClr val="0C0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936F"/>
                </a:solidFill>
              </a:rPr>
              <a:t>DATA ETHICS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Responsible Practices Maintained Across All Three Stages of This Project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2816352" cy="777240"/>
          </a:xfrm>
          <a:prstGeom prst="rect">
            <a:avLst/>
          </a:prstGeom>
          <a:solidFill>
            <a:srgbClr val="0C0806"/>
          </a:solidFill>
          <a:ln w="12700">
            <a:solidFill>
              <a:srgbClr val="0C0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11556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36F"/>
                </a:solidFill>
              </a:rPr>
              <a:t>🔒  Data Collection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828800"/>
            <a:ext cx="2816352" cy="457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54864" cy="365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94767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Used only publicly available NDE data — no private or personal records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15768"/>
            <a:ext cx="54864" cy="365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26974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No individual student data — all analysis at school and district level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54864" cy="365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44728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Aggregated data only — full student privacy preserved throughout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816352" cy="777240"/>
          </a:xfrm>
          <a:prstGeom prst="rect">
            <a:avLst/>
          </a:prstGeom>
          <a:solidFill>
            <a:srgbClr val="0C0806"/>
          </a:solidFill>
          <a:ln w="12700">
            <a:solidFill>
              <a:srgbClr val="0C0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111556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820A"/>
                </a:solidFill>
              </a:rPr>
              <a:t>📊  EDA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2816352" cy="4572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0128" y="1965960"/>
            <a:ext cx="54864" cy="3657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194767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Visualizations designed to be clear and honest — not misleading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2715768"/>
            <a:ext cx="54864" cy="3657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6974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Missing values justified and documented — not silently dropped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3465576"/>
            <a:ext cx="54864" cy="3657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29000" y="344728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All features treated fairly with no cherry-picking of results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44768" y="1051560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44768" y="1051560"/>
            <a:ext cx="2816352" cy="777240"/>
          </a:xfrm>
          <a:prstGeom prst="rect">
            <a:avLst/>
          </a:prstGeom>
          <a:solidFill>
            <a:srgbClr val="0C0806"/>
          </a:solidFill>
          <a:ln w="12700">
            <a:solidFill>
              <a:srgbClr val="0C0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111556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545"/>
                </a:solidFill>
              </a:rPr>
              <a:t>🤖  Modeling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44768" y="1828800"/>
            <a:ext cx="2816352" cy="4572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54496" y="1965960"/>
            <a:ext cx="54864" cy="3657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73368" y="194767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10+ models compared at both scales — no cherry-picking the best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2715768"/>
            <a:ext cx="54864" cy="3657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3368" y="26974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FRL% bias acknowledged — reflects systemic inequality not individual fault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4496" y="3465576"/>
            <a:ext cx="54864" cy="3657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73368" y="344728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0806"/>
                </a:solidFill>
              </a:rPr>
              <a:t>Results stated accurately — no overclaiming beyond what data supports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0C0806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4434840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936F"/>
                </a:solidFill>
              </a:rPr>
              <a:t>Mindful of real-world failures: COMPAS (racial bias in predictions), Cambridge Analytica (no consent), Amazon Hiring AI (gender discrimination) — we designed our study to avoid these pitfalls at every stage.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9070"/>
                </a:solidFill>
              </a:rPr>
              <a:t>Abhinav Adhikari  ·  Nilesh Purnekar  ·  DSCI/STAT 8950  ·  University of Nebraska Omaha  ·  Spring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2880"/>
            <a:ext cx="347472" cy="347472"/>
          </a:xfrm>
          <a:prstGeom prst="ellipse">
            <a:avLst/>
          </a:prstGeom>
          <a:solidFill>
            <a:srgbClr val="120D08"/>
          </a:solidFill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82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8092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Implications &amp; Recommended Next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1792"/>
            <a:ext cx="8092440" cy="0"/>
          </a:xfrm>
          <a:prstGeom prst="line">
            <a:avLst/>
          </a:prstGeom>
          <a:noFill/>
          <a:ln w="12700">
            <a:solidFill>
              <a:srgbClr val="120D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1148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14800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941832"/>
            <a:ext cx="384048" cy="384048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941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960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high-FRL districts first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399032"/>
            <a:ext cx="3822192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90472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is the strongest advance-available signal at both scales. Direct early-intervention resources to districts and schools with highest poverty concentration before the school year ends.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1148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4114800" cy="6400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384048" cy="384048"/>
          </a:xfrm>
          <a:prstGeom prst="ellipse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099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the district early-warning model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38728"/>
            <a:ext cx="3822192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30168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safe-feature XGBoost model predicts risk using only 7 pre-year features. NDE can operationalize this as an annual district-risk score before attendance data accumulates.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36592" y="804672"/>
            <a:ext cx="41148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804672"/>
            <a:ext cx="4114800" cy="6400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73752" y="941832"/>
            <a:ext cx="384048" cy="384048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752" y="941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76672" y="960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for COVID structural break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73752" y="1399032"/>
            <a:ext cx="3822192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1490472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across 2018-2025 must treat 2020-22 as an outlier window. Intervention benchmarks should be set against pre-pandemic baselines, not the pandemic-peak average.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36592" y="2944368"/>
            <a:ext cx="41148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36592" y="2944368"/>
            <a:ext cx="4114800" cy="64008"/>
          </a:xfrm>
          <a:prstGeom prst="rect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73752" y="3081528"/>
            <a:ext cx="384048" cy="384048"/>
          </a:xfrm>
          <a:prstGeom prst="ellipse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099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to county-level financial analysis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73752" y="3538728"/>
            <a:ext cx="3822192" cy="0"/>
          </a:xfrm>
          <a:prstGeom prst="line">
            <a:avLst/>
          </a:prstGeom>
          <a:noFill/>
          <a:ln w="6350">
            <a:solidFill>
              <a:srgbClr val="DDD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73752" y="3630168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maps confirm statewide patterns. Adding county-level funding formulas to the model enables direct dollar impact estimates — making the case for policy investment clearer.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458200" cy="685800"/>
          </a:xfrm>
          <a:prstGeom prst="rect">
            <a:avLst/>
          </a:prstGeom>
          <a:solidFill>
            <a:srgbClr val="221608"/>
          </a:solidFill>
          <a:ln w="1016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28016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the best model at both scales — Test RMSE ~1.68 pp (district) and Test R² 0.814 (school)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8458200" cy="685800"/>
          </a:xfrm>
          <a:prstGeom prst="rect">
            <a:avLst/>
          </a:prstGeom>
          <a:solidFill>
            <a:srgbClr val="221608"/>
          </a:solidFill>
          <a:ln w="10160">
            <a:solidFill>
              <a:srgbClr val="38B27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2057400"/>
            <a:ext cx="347472" cy="347472"/>
          </a:xfrm>
          <a:prstGeom prst="ellipse">
            <a:avLst/>
          </a:prstGeom>
          <a:solidFill>
            <a:srgbClr val="38B272"/>
          </a:solidFill>
          <a:ln w="12700">
            <a:solidFill>
              <a:srgbClr val="38B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057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the #1 predictor — FRL% drives absenteeism at district and school level, confirmed independently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8458200" cy="685800"/>
          </a:xfrm>
          <a:prstGeom prst="rect">
            <a:avLst/>
          </a:prstGeom>
          <a:solidFill>
            <a:srgbClr val="221608"/>
          </a:solidFill>
          <a:ln w="10160">
            <a:solidFill>
              <a:srgbClr val="E0505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834640"/>
            <a:ext cx="347472" cy="34747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$15.8M in Nebraska education funding is at risk — 12,647 students chronically absent across 73 schools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447288"/>
            <a:ext cx="8458200" cy="685800"/>
          </a:xfrm>
          <a:prstGeom prst="rect">
            <a:avLst/>
          </a:prstGeom>
          <a:solidFill>
            <a:srgbClr val="221608"/>
          </a:solidFill>
          <a:ln w="10160">
            <a:solidFill>
              <a:srgbClr val="6C4FC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3611880"/>
            <a:ext cx="347472" cy="347472"/>
          </a:xfrm>
          <a:prstGeom prst="ellipse">
            <a:avLst/>
          </a:prstGeom>
          <a:solidFill>
            <a:srgbClr val="6C4FCC"/>
          </a:solidFill>
          <a:ln w="12700">
            <a:solidFill>
              <a:srgbClr val="6C4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of study schools are high-risk (&gt;20% absenteeism) and need immediate, targeted policy intervention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8458200" cy="685800"/>
          </a:xfrm>
          <a:prstGeom prst="rect">
            <a:avLst/>
          </a:prstGeom>
          <a:solidFill>
            <a:srgbClr val="221608"/>
          </a:solidFill>
          <a:ln w="1016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" y="4389120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4389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early-intervention model can flag at-risk districts before year-end using only advance-available features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4864608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Adhikari  ·  Nilesh Purnekar  ·  DSCI/STAT 8950  ·  University of Nebraska Omaha  ·  Spring 2026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20D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8503920" cy="1051560"/>
          </a:xfrm>
          <a:prstGeom prst="rect">
            <a:avLst/>
          </a:prstGeom>
          <a:solidFill>
            <a:srgbClr val="221608"/>
          </a:solidFill>
          <a:ln w="762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64008" cy="10515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two scales?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211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models serve policy allocation — broad but actionable. School-level models enable targeted intervention — precise but requires more data. Together they cover the full decision chain from state to classroom.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8503920" cy="1051560"/>
          </a:xfrm>
          <a:prstGeom prst="rect">
            <a:avLst/>
          </a:prstGeom>
          <a:solidFill>
            <a:srgbClr val="221608"/>
          </a:solidFill>
          <a:ln w="762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64008" cy="10515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this deploy today?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8211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safe-feature district model uses only 7 pre-year features (FRL%, enrollment, urban flag, grade mix). NDE could run it as an annual risk score before the school year begins — no end-of-year attendance data required.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822192"/>
            <a:ext cx="8503920" cy="1051560"/>
          </a:xfrm>
          <a:prstGeom prst="rect">
            <a:avLst/>
          </a:prstGeom>
          <a:solidFill>
            <a:srgbClr val="221608"/>
          </a:solidFill>
          <a:ln w="7620">
            <a:solidFill>
              <a:srgbClr val="C882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822192"/>
            <a:ext cx="64008" cy="10515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would improve it?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61104"/>
            <a:ext cx="8211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financial modeling, SHAP values for per-district explanations, individual student-level data (with privacy controls), and a temporal train/test split to better simulate real-world forecasting.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Adhikari  ·  Nilesh Purnekar  ·  DSCI/STAT 8950  ·  University of Nebraska Omaha  ·  </a:t>
            </a:r>
            <a:r>
              <a:rPr lang="en-US" sz="95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2228</Words>
  <Application>Microsoft Office PowerPoint</Application>
  <PresentationFormat>On-screen Show (16:9)</PresentationFormat>
  <Paragraphs>450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Nebraska K-12 Chronic Absenteeism — Two-Scale ML Study</dc:title>
  <dc:subject>PptxGenJS Presentation</dc:subject>
  <dc:creator>Abhinav Adhikari</dc:creator>
  <cp:lastModifiedBy>Abhinav Adhikari</cp:lastModifiedBy>
  <cp:revision>6</cp:revision>
  <dcterms:created xsi:type="dcterms:W3CDTF">2026-04-13T16:14:29Z</dcterms:created>
  <dcterms:modified xsi:type="dcterms:W3CDTF">2026-04-14T20:10:30Z</dcterms:modified>
</cp:coreProperties>
</file>