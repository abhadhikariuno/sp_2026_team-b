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9" r:id="rId7"/>
    <p:sldId id="258" r:id="rId8"/>
    <p:sldId id="260" r:id="rId9"/>
    <p:sldId id="261" r:id="rId10"/>
    <p:sldId id="262" r:id="rId11"/>
    <p:sldId id="268" r:id="rId12"/>
    <p:sldId id="263" r:id="rId13"/>
    <p:sldId id="269" r:id="rId14"/>
    <p:sldId id="270" r:id="rId15"/>
    <p:sldId id="271" r:id="rId16"/>
    <p:sldId id="264" r:id="rId17"/>
    <p:sldId id="265" r:id="rId18"/>
    <p:sldId id="266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67" r:id="rId29"/>
    <p:sldId id="281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91B3FD-F06F-F585-E350-C393FCBAB501}" v="3" dt="2026-02-10T17:03:42.569"/>
    <p1510:client id="{31516839-0770-3A00-5C08-F7ED46B58080}" v="109" dt="2026-02-10T06:56:43.939"/>
    <p1510:client id="{D680FEAA-E2F3-F227-CF47-3818C6C67052}" v="326" dt="2026-02-10T07:20:14.8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bera-journals.onlinelibrary.wiley.com/doi/full/10.1002/rev3.3291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1wqtxts1xzle7.cloudfront.net/67533089/student-libre.pdf?1622993135=&amp;response-content-disposition=inline%3B+filename%3DUsing_data_mining_to_predict_secondary_s.pdf&amp;Expires=1769571207&amp;Signature=XrxmOAUMS5G332WxGk6Z59lFyESgp3Vdfaw1koQGGGF7y~Wklq1URaZM~BCMel0ueccUOPWdZyO0fnqdM1llq-VGw9D5xNob4IfWMU4Ko7EVPdwk8JVakc-Zn-BEedgceJU7NONbIaIKha5k7wBdQ1Z7hlN-e3dRE~ALEV2GGfm5i9Mf2bxcAuAo3l0x3uIdOQIRViH-cXx9e9L84GJV60k4zxmZ7sPy~OPw-7loaicvEPZehZn4E4JmlvbmwRIAgybIwnnGauK2MTg8Ss5z-P9IgrwAia8P1wfOtyP1U4wjd418Ts48Y-AXYAukDgqjmzT5lokrBmEsgiJH~vfOwQ__&amp;Key-Pair-Id=APKAJLOHF5GGSLRBV4ZA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nebraskapublicmedia.org/en/news/news-articles/missing-as-little-as-10-of-school-can-impact-test-scores-and-the-odds-of-attending-college-study-finds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ducation.ne.gov/wp-content/uploads/2023/09/A-randomized-experiment.pdf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nebraskapublicmedia.org/en/news/news-articles/missing-as-little-as-10-of-school-can-impact-test-scores-and-the-odds-of-attending-college-study-finds/" TargetMode="External"/><Relationship Id="rId2" Type="http://schemas.openxmlformats.org/officeDocument/2006/relationships/hyperlink" Target="https://www.education.ne.gov/wp-content/uploads/2023/09/A-randomized-experiment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era-journals.onlinelibrary.wiley.com/doi/full/10.1002/rev3.3291" TargetMode="External"/><Relationship Id="rId4" Type="http://schemas.openxmlformats.org/officeDocument/2006/relationships/hyperlink" Target="https://www.academia.edu/49142840/Using_data_mining_to_predict_secondary_school_student_performan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22170"/>
            <a:ext cx="7772400" cy="980388"/>
          </a:xfrm>
        </p:spPr>
        <p:txBody>
          <a:bodyPr>
            <a:normAutofit fontScale="90000"/>
          </a:bodyPr>
          <a:lstStyle/>
          <a:p>
            <a:br>
              <a:rPr lang="en-US">
                <a:solidFill>
                  <a:srgbClr val="FFFFFF"/>
                </a:solidFill>
                <a:latin typeface="Segoe UI"/>
              </a:rPr>
            </a:br>
            <a:r>
              <a:rPr lang="en-US">
                <a:solidFill>
                  <a:srgbClr val="FFFFFF"/>
                </a:solidFill>
                <a:latin typeface="Segoe UI"/>
              </a:rPr>
              <a:t>A Data-Driven Analysis of Factors Affecting Student Absenteeism in Nebraska Schools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31" y="2626822"/>
            <a:ext cx="6641869" cy="3011978"/>
          </a:xfrm>
        </p:spPr>
        <p:txBody>
          <a:bodyPr>
            <a:normAutofit fontScale="47500" lnSpcReduction="20000"/>
          </a:bodyPr>
          <a:lstStyle/>
          <a:p>
            <a:r>
              <a:rPr lang="en-US" b="1">
                <a:solidFill>
                  <a:srgbClr val="FFFFFF"/>
                </a:solidFill>
                <a:latin typeface="Segoe UI"/>
              </a:rPr>
              <a:t>Course</a:t>
            </a:r>
          </a:p>
          <a:p>
            <a:r>
              <a:rPr lang="en-US">
                <a:solidFill>
                  <a:srgbClr val="FFFFFF"/>
                </a:solidFill>
                <a:latin typeface="Segoe UI"/>
              </a:rPr>
              <a:t>DSCI / STAT 8750 – Data Science Capstone</a:t>
            </a:r>
            <a:br>
              <a:rPr lang="en-US"/>
            </a:br>
            <a:br>
              <a:rPr lang="en-US"/>
            </a:br>
            <a:r>
              <a:rPr lang="en-US" b="1">
                <a:solidFill>
                  <a:srgbClr val="FFFFFF"/>
                </a:solidFill>
                <a:latin typeface="Segoe UI"/>
              </a:rPr>
              <a:t>Team Members</a:t>
            </a:r>
          </a:p>
          <a:p>
            <a:r>
              <a:rPr lang="en-US" b="1">
                <a:solidFill>
                  <a:srgbClr val="FFFFFF"/>
                </a:solidFill>
                <a:latin typeface="Segoe UI"/>
              </a:rPr>
              <a:t>Abhinav Adhikari</a:t>
            </a:r>
            <a:endParaRPr lang="en-US"/>
          </a:p>
          <a:p>
            <a:r>
              <a:rPr lang="en-US" b="1">
                <a:solidFill>
                  <a:srgbClr val="FFFFFF"/>
                </a:solidFill>
                <a:latin typeface="Segoe UI"/>
              </a:rPr>
              <a:t>Nilesh Purnekar</a:t>
            </a:r>
            <a:br>
              <a:rPr lang="en-US" b="1"/>
            </a:br>
            <a:br>
              <a:rPr lang="en-US" b="1"/>
            </a:br>
            <a:r>
              <a:rPr lang="en-US" b="1">
                <a:solidFill>
                  <a:srgbClr val="FFFFFF"/>
                </a:solidFill>
                <a:latin typeface="Segoe UI"/>
              </a:rPr>
              <a:t>Instructor</a:t>
            </a:r>
          </a:p>
          <a:p>
            <a:r>
              <a:rPr lang="en-US" b="1">
                <a:solidFill>
                  <a:srgbClr val="FFFFFF"/>
                </a:solidFill>
                <a:latin typeface="Segoe UI"/>
              </a:rPr>
              <a:t>Dr. Lochana </a:t>
            </a:r>
            <a:r>
              <a:rPr lang="en-US" b="1" err="1">
                <a:solidFill>
                  <a:srgbClr val="FFFFFF"/>
                </a:solidFill>
                <a:latin typeface="Segoe UI"/>
              </a:rPr>
              <a:t>Palayangoda</a:t>
            </a:r>
            <a:br>
              <a:rPr lang="en-US" b="1"/>
            </a:br>
            <a:br>
              <a:rPr lang="en-US" b="1"/>
            </a:br>
            <a:r>
              <a:rPr lang="en-US" b="1">
                <a:solidFill>
                  <a:srgbClr val="FFFFFF"/>
                </a:solidFill>
                <a:latin typeface="Segoe UI"/>
              </a:rPr>
              <a:t>Institution</a:t>
            </a:r>
          </a:p>
          <a:p>
            <a:r>
              <a:rPr lang="en-US">
                <a:solidFill>
                  <a:srgbClr val="FFFFFF"/>
                </a:solidFill>
                <a:latin typeface="Segoe UI"/>
              </a:rPr>
              <a:t>University of Nebraska at Omaha</a:t>
            </a:r>
          </a:p>
          <a:p>
            <a:br>
              <a:rPr lang="en-US"/>
            </a:br>
            <a:r>
              <a:rPr lang="en-US">
                <a:solidFill>
                  <a:srgbClr val="FFFFFF"/>
                </a:solidFill>
                <a:latin typeface="Segoe UI"/>
              </a:rPr>
              <a:t>Date 02-03-2026</a:t>
            </a:r>
          </a:p>
          <a:p>
            <a:endParaRPr lang="en-US"/>
          </a:p>
          <a:p>
            <a:endParaRPr lang="en-US"/>
          </a:p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Segoe UI"/>
              </a:rPr>
              <a:t>Introduction – Abhinav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Segoe UI"/>
                <a:ea typeface="Calibri"/>
                <a:cs typeface="Calibri"/>
              </a:rPr>
              <a:t>Abhinav, go by Abhi/avi, just had a daughter and have the time of my life right now. </a:t>
            </a:r>
          </a:p>
          <a:p>
            <a:r>
              <a:rPr lang="en-US">
                <a:solidFill>
                  <a:srgbClr val="FFFFFF"/>
                </a:solidFill>
                <a:latin typeface="Segoe UI"/>
                <a:ea typeface="Calibri"/>
                <a:cs typeface="Calibri"/>
              </a:rPr>
              <a:t>MS in data Science and currently work here for the university as a Business Analyst, primarily focusing on business needs for student enrollment.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Segoe UI"/>
              </a:rPr>
              <a:t>My Role in the Project – Abhinav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Data Support, coding and model implementation. </a:t>
            </a:r>
          </a:p>
          <a:p>
            <a:endParaRPr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Segoe UI"/>
              </a:rPr>
              <a:t>Introduction – </a:t>
            </a:r>
            <a:r>
              <a:rPr err="1">
                <a:solidFill>
                  <a:srgbClr val="FFFFFF"/>
                </a:solidFill>
                <a:latin typeface="Segoe UI"/>
              </a:rPr>
              <a:t>Nilesh</a:t>
            </a:r>
            <a:r>
              <a:rPr lang="en-US" err="1">
                <a:solidFill>
                  <a:srgbClr val="FFFFFF"/>
                </a:solidFill>
                <a:latin typeface="Segoe UI"/>
              </a:rPr>
              <a:t>Purnekar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/>
              </a:rPr>
              <a:t>Education:</a:t>
            </a:r>
            <a:r>
              <a:rPr lang="en-US" sz="2400">
                <a:solidFill>
                  <a:srgbClr val="FFFFFF"/>
                </a:solidFill>
                <a:latin typeface="Segoe UI"/>
              </a:rPr>
              <a:t> M.S. in Data Science, University of Nebraska at Omaha</a:t>
            </a:r>
          </a:p>
          <a:p>
            <a:r>
              <a:rPr lang="en-US" sz="2400" b="1">
                <a:solidFill>
                  <a:srgbClr val="FFFFFF"/>
                </a:solidFill>
                <a:latin typeface="Segoe UI"/>
              </a:rPr>
              <a:t>Jobs:</a:t>
            </a:r>
            <a:endParaRPr lang="en-US" sz="2400"/>
          </a:p>
          <a:p>
            <a:pPr marL="1200150" lvl="2" indent="-342900"/>
            <a:r>
              <a:rPr lang="en-US">
                <a:solidFill>
                  <a:srgbClr val="FFFFFF"/>
                </a:solidFill>
                <a:latin typeface="Segoe UI"/>
              </a:rPr>
              <a:t>IT Intern, Interpublic Group (IPG)</a:t>
            </a:r>
          </a:p>
          <a:p>
            <a:pPr marL="1200150" lvl="2" indent="-342900"/>
            <a:r>
              <a:rPr lang="en-US">
                <a:solidFill>
                  <a:srgbClr val="FFFFFF"/>
                </a:solidFill>
                <a:latin typeface="Segoe UI"/>
              </a:rPr>
              <a:t>Personal Trainer &amp; Weight Room Supervisor, H&amp;K</a:t>
            </a:r>
          </a:p>
          <a:p>
            <a:r>
              <a:rPr lang="en-US" sz="2400" b="1">
                <a:solidFill>
                  <a:srgbClr val="FFFFFF"/>
                </a:solidFill>
                <a:latin typeface="Segoe UI"/>
              </a:rPr>
              <a:t>Interests:</a:t>
            </a:r>
            <a:r>
              <a:rPr lang="en-US" sz="2400">
                <a:solidFill>
                  <a:srgbClr val="FFFFFF"/>
                </a:solidFill>
                <a:latin typeface="Segoe UI"/>
              </a:rPr>
              <a:t> Data analytics, machine learning, real-world problem solving</a:t>
            </a:r>
          </a:p>
          <a:p>
            <a:r>
              <a:rPr lang="en-US" sz="2400" b="1">
                <a:solidFill>
                  <a:srgbClr val="FFFFFF"/>
                </a:solidFill>
                <a:latin typeface="Segoe UI"/>
              </a:rPr>
              <a:t>Hobbies:</a:t>
            </a:r>
            <a:r>
              <a:rPr lang="en-US" sz="2400">
                <a:solidFill>
                  <a:srgbClr val="FFFFFF"/>
                </a:solidFill>
                <a:latin typeface="Segoe UI"/>
              </a:rPr>
              <a:t> Fitness, travel</a:t>
            </a:r>
          </a:p>
          <a:p>
            <a:r>
              <a:rPr lang="en-US" sz="2400" b="1">
                <a:solidFill>
                  <a:srgbClr val="FFFFFF"/>
                </a:solidFill>
                <a:latin typeface="Segoe UI"/>
              </a:rPr>
              <a:t>Fun Fact: B</a:t>
            </a:r>
            <a:r>
              <a:rPr lang="en-US" sz="2400">
                <a:solidFill>
                  <a:srgbClr val="FFFFFF"/>
                </a:solidFill>
                <a:latin typeface="Segoe UI"/>
              </a:rPr>
              <a:t>alancing tech and training is hard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sz="2400"/>
          </a:p>
        </p:txBody>
      </p:sp>
      <p:sp>
        <p:nvSpPr>
          <p:cNvPr id="4" name="Rectangle 3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solidFill>
                  <a:srgbClr val="FFFFFF"/>
                </a:solidFill>
                <a:latin typeface="Segoe UI"/>
              </a:rPr>
              <a:t>My Role in the Project </a:t>
            </a:r>
            <a:br>
              <a:rPr lang="en-US"/>
            </a:br>
            <a:r>
              <a:rPr>
                <a:solidFill>
                  <a:srgbClr val="FFFFFF"/>
                </a:solidFill>
                <a:latin typeface="Segoe UI"/>
              </a:rPr>
              <a:t>Nilesh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C2A8E3-7C75-A13B-3B42-1FAACCFD32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637957"/>
            <a:ext cx="7960936" cy="4450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FFFFFF"/>
                </a:solidFill>
                <a:latin typeface="Segoe UI"/>
              </a:rPr>
              <a:t>Lead the </a:t>
            </a:r>
            <a:r>
              <a:rPr lang="en-US" sz="2400" b="1">
                <a:solidFill>
                  <a:srgbClr val="FFFFFF"/>
                </a:solidFill>
                <a:latin typeface="Segoe UI"/>
              </a:rPr>
              <a:t>problem formulation</a:t>
            </a:r>
            <a:r>
              <a:rPr lang="en-US" sz="2400">
                <a:solidFill>
                  <a:srgbClr val="FFFFFF"/>
                </a:solidFill>
                <a:latin typeface="Segoe UI"/>
              </a:rPr>
              <a:t> and refinement of project objectives.</a:t>
            </a:r>
          </a:p>
          <a:p>
            <a:r>
              <a:rPr lang="en-US" sz="2400">
                <a:solidFill>
                  <a:srgbClr val="FFFFFF"/>
                </a:solidFill>
                <a:latin typeface="Segoe UI"/>
              </a:rPr>
              <a:t>Analyze </a:t>
            </a:r>
            <a:r>
              <a:rPr lang="en-US" sz="2400" b="1">
                <a:solidFill>
                  <a:srgbClr val="FFFFFF"/>
                </a:solidFill>
                <a:latin typeface="Segoe UI"/>
              </a:rPr>
              <a:t>socioeconomic factors</a:t>
            </a:r>
            <a:r>
              <a:rPr lang="en-US" sz="2400">
                <a:solidFill>
                  <a:srgbClr val="FFFFFF"/>
                </a:solidFill>
                <a:latin typeface="Segoe UI"/>
              </a:rPr>
              <a:t> related to student absenteeism.</a:t>
            </a:r>
          </a:p>
          <a:p>
            <a:r>
              <a:rPr lang="en-US" sz="2400">
                <a:solidFill>
                  <a:srgbClr val="FFFFFF"/>
                </a:solidFill>
                <a:latin typeface="Segoe UI"/>
              </a:rPr>
              <a:t>Interpret </a:t>
            </a:r>
            <a:r>
              <a:rPr lang="en-US" sz="2400" b="1">
                <a:solidFill>
                  <a:srgbClr val="FFFFFF"/>
                </a:solidFill>
                <a:latin typeface="Segoe UI"/>
              </a:rPr>
              <a:t>Free &amp; Reduced Lunch (FRL)</a:t>
            </a:r>
            <a:r>
              <a:rPr lang="en-US" sz="2400">
                <a:solidFill>
                  <a:srgbClr val="FFFFFF"/>
                </a:solidFill>
                <a:latin typeface="Segoe UI"/>
              </a:rPr>
              <a:t> data as a key socioeconomic indicator.</a:t>
            </a:r>
          </a:p>
          <a:p>
            <a:r>
              <a:rPr lang="en-US" sz="2400">
                <a:solidFill>
                  <a:srgbClr val="FFFFFF"/>
                </a:solidFill>
                <a:latin typeface="Segoe UI"/>
              </a:rPr>
              <a:t>Conduct and summarize </a:t>
            </a:r>
            <a:r>
              <a:rPr lang="en-US" sz="2400" b="1">
                <a:solidFill>
                  <a:srgbClr val="FFFFFF"/>
                </a:solidFill>
                <a:latin typeface="Segoe UI"/>
              </a:rPr>
              <a:t>literature review</a:t>
            </a:r>
            <a:r>
              <a:rPr lang="en-US" sz="2400">
                <a:solidFill>
                  <a:srgbClr val="FFFFFF"/>
                </a:solidFill>
                <a:latin typeface="Segoe UI"/>
              </a:rPr>
              <a:t> on socioeconomic influences.</a:t>
            </a:r>
          </a:p>
          <a:p>
            <a:r>
              <a:rPr lang="en-US" sz="2400">
                <a:solidFill>
                  <a:srgbClr val="FFFFFF"/>
                </a:solidFill>
                <a:latin typeface="Segoe UI"/>
              </a:rPr>
              <a:t>Support integration of socioeconomic insights into the </a:t>
            </a:r>
            <a:r>
              <a:rPr lang="en-US" sz="2400" b="1">
                <a:solidFill>
                  <a:srgbClr val="FFFFFF"/>
                </a:solidFill>
                <a:latin typeface="Segoe UI"/>
              </a:rPr>
              <a:t>final analysis.</a:t>
            </a:r>
            <a:endParaRPr lang="en-US" sz="240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Segoe UI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834FDD-F3E8-AA98-9C02-4ACC9BC23A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3377" y="1192817"/>
            <a:ext cx="841342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/>
              </a:rPr>
              <a:t>Student absenteeism remains a critical challenge in K–12 education.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>
                <a:solidFill>
                  <a:srgbClr val="FFFFFF"/>
                </a:solidFill>
                <a:latin typeface="Segoe UI"/>
              </a:rPr>
              <a:t>Attendance patterns vary significantly between </a:t>
            </a:r>
            <a:r>
              <a:rPr lang="en-US" sz="2400" b="1">
                <a:solidFill>
                  <a:srgbClr val="FFFFFF"/>
                </a:solidFill>
                <a:latin typeface="Segoe UI"/>
              </a:rPr>
              <a:t>grade-level school categories (elementary vs secondary)</a:t>
            </a:r>
            <a:r>
              <a:rPr lang="en-US" sz="2400">
                <a:solidFill>
                  <a:srgbClr val="FFFFFF"/>
                </a:solidFill>
                <a:latin typeface="Segoe UI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/>
              </a:rPr>
              <a:t>Socioeconomic conditions may influence absenteeism differently across school 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/>
              </a:rPr>
              <a:t>There is limited analysis that jointly examines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/>
              </a:rPr>
              <a:t>school type and socioeconomic factors.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/>
              </a:rPr>
              <a:t>Understanding these patterns is essential for targeted educational interventions.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79790" cy="950847"/>
          </a:xfrm>
        </p:spPr>
        <p:txBody>
          <a:bodyPr/>
          <a:lstStyle/>
          <a:p>
            <a:r>
              <a:rPr>
                <a:solidFill>
                  <a:srgbClr val="FFFFFF"/>
                </a:solidFill>
                <a:latin typeface="Segoe UI"/>
              </a:rPr>
              <a:t>Project Objectives (SMART)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6069FD-7804-DA2F-D650-E4B053A7E6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3889" y="1367213"/>
            <a:ext cx="82296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/>
              </a:rPr>
              <a:t>S (Specific):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/>
              </a:rPr>
              <a:t> </a:t>
            </a:r>
            <a:r>
              <a:rPr lang="en-US" sz="2400">
                <a:solidFill>
                  <a:srgbClr val="FFFFFF"/>
                </a:solidFill>
                <a:latin typeface="Segoe UI"/>
              </a:rPr>
              <a:t>Analyze absenteeism patterns across </a:t>
            </a:r>
            <a:r>
              <a:rPr lang="en-US" sz="2400" b="1">
                <a:solidFill>
                  <a:srgbClr val="FFFFFF"/>
                </a:solidFill>
                <a:latin typeface="Segoe UI"/>
              </a:rPr>
              <a:t>grade-level school categories (elementary vs secondary)</a:t>
            </a:r>
            <a:r>
              <a:rPr lang="en-US" sz="2400">
                <a:solidFill>
                  <a:srgbClr val="FFFFFF"/>
                </a:solidFill>
                <a:latin typeface="Segoe UI"/>
              </a:rPr>
              <a:t>.</a:t>
            </a:r>
            <a:endParaRPr kumimoji="0" lang="en-US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/>
              </a:rPr>
              <a:t>M (Measurable):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/>
              </a:rPr>
              <a:t> Compare absenteeism using attendance counts and socioeconomic indicators.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/>
              </a:rPr>
              <a:t>A (Achievable):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/>
              </a:rPr>
              <a:t> Use publicly available Nebraska K–12 school-level data (2020 - 2021).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/>
              </a:rPr>
              <a:t>R (Relevant):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/>
              </a:rPr>
              <a:t> Support data-driven insights for educational planning and intervention.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/>
              </a:rPr>
              <a:t>T (Time-bound):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/>
              </a:rPr>
              <a:t> Complete analysis and reporting within the semester timeline.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323B2-90F7-0E24-A41B-A534734A0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FFFFFF"/>
                </a:solidFill>
                <a:latin typeface="Segoe UI"/>
              </a:rPr>
              <a:t>Proposed Project Timeline- Grantt Chart</a:t>
            </a:r>
          </a:p>
        </p:txBody>
      </p:sp>
      <p:pic>
        <p:nvPicPr>
          <p:cNvPr id="5" name="Content Placeholder 4" descr="A graph with blue rectangles&#10;&#10;AI-generated content may be incorrect.">
            <a:extLst>
              <a:ext uri="{FF2B5EF4-FFF2-40B4-BE49-F238E27FC236}">
                <a16:creationId xmlns:a16="http://schemas.microsoft.com/office/drawing/2014/main" id="{B3E7EEB8-38D5-32C9-903D-CC45430B1D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034381"/>
            <a:ext cx="4614421" cy="36576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186371-07D9-8274-AE91-B26985186194}"/>
              </a:ext>
            </a:extLst>
          </p:cNvPr>
          <p:cNvSpPr txBox="1"/>
          <p:nvPr/>
        </p:nvSpPr>
        <p:spPr>
          <a:xfrm>
            <a:off x="5326144" y="2642656"/>
            <a:ext cx="336065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rgbClr val="FFFFFF"/>
                </a:solidFill>
                <a:latin typeface="Segoe UI"/>
              </a:rPr>
              <a:t>This timeline outlines the planned project phases across the semester, aligned with course milestones and allowing flexibility for iterative analysis.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841340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59278" cy="734030"/>
          </a:xfrm>
        </p:spPr>
        <p:txBody>
          <a:bodyPr>
            <a:normAutofit fontScale="90000"/>
          </a:bodyPr>
          <a:lstStyle/>
          <a:p>
            <a:r>
              <a:rPr>
                <a:solidFill>
                  <a:srgbClr val="FFFFFF"/>
                </a:solidFill>
                <a:latin typeface="Segoe UI"/>
              </a:rPr>
              <a:t>Dataset Overview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D1992DA-5F08-12AD-BDA9-0D4161C1B2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5097" y="1123646"/>
            <a:ext cx="7767687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>
                <a:solidFill>
                  <a:srgbClr val="FFFFFF"/>
                </a:solidFill>
                <a:latin typeface="Segoe UI" panose="020B0604020202020204" pitchFamily="34" charset="0"/>
              </a:rPr>
              <a:t>Source:</a:t>
            </a:r>
            <a:r>
              <a:rPr lang="en-US" altLang="en-US" sz="2000">
                <a:solidFill>
                  <a:srgbClr val="FFFFFF"/>
                </a:solidFill>
                <a:latin typeface="Segoe UI" panose="020B0604020202020204" pitchFamily="34" charset="0"/>
              </a:rPr>
              <a:t> Nebraska Department of Education (2020–2021).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>
                <a:solidFill>
                  <a:srgbClr val="FFFFFF"/>
                </a:solidFill>
                <a:latin typeface="Segoe UI" panose="020B0604020202020204" pitchFamily="34" charset="0"/>
              </a:rPr>
              <a:t>Data Level:</a:t>
            </a:r>
            <a:r>
              <a:rPr lang="en-US" altLang="en-US" sz="2000">
                <a:solidFill>
                  <a:srgbClr val="FFFFFF"/>
                </a:solidFill>
                <a:latin typeface="Segoe UI" panose="020B0604020202020204" pitchFamily="34" charset="0"/>
              </a:rPr>
              <a:t> School-level data.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>
                <a:solidFill>
                  <a:srgbClr val="FFFFFF"/>
                </a:solidFill>
                <a:latin typeface="Segoe UI" panose="020B0604020202020204" pitchFamily="34" charset="0"/>
              </a:rPr>
              <a:t>Datasets Used:</a:t>
            </a:r>
            <a:endParaRPr lang="en-US" altLang="en-US" sz="2000"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solidFill>
                  <a:srgbClr val="FFFFFF"/>
                </a:solidFill>
                <a:latin typeface="Segoe UI" panose="020B0604020202020204" pitchFamily="34" charset="0"/>
              </a:rPr>
              <a:t>Student absenteeism counts.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solidFill>
                  <a:srgbClr val="FFFFFF"/>
                </a:solidFill>
                <a:latin typeface="Segoe UI" panose="020B0604020202020204" pitchFamily="34" charset="0"/>
              </a:rPr>
              <a:t>Free &amp; Reduced Lunch (FRL) counts.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solidFill>
                  <a:srgbClr val="FFFFFF"/>
                </a:solidFill>
                <a:latin typeface="Segoe UI" panose="020B0604020202020204" pitchFamily="34" charset="0"/>
              </a:rPr>
              <a:t>School membership by grade.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solidFill>
                  <a:srgbClr val="FFFFFF"/>
                </a:solidFill>
                <a:latin typeface="Segoe UI" panose="020B0604020202020204" pitchFamily="34" charset="0"/>
              </a:rPr>
              <a:t>Numbers of districts and schools.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solidFill>
                  <a:srgbClr val="FFFFFF"/>
                </a:solidFill>
                <a:latin typeface="Segoe UI" panose="020B0604020202020204" pitchFamily="34" charset="0"/>
              </a:rPr>
              <a:t>State education statistics (Stats &amp; Facts).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>
                <a:solidFill>
                  <a:srgbClr val="FFFFFF"/>
                </a:solidFill>
                <a:latin typeface="Segoe UI" panose="020B0604020202020204" pitchFamily="34" charset="0"/>
              </a:rPr>
              <a:t>Final Structure:</a:t>
            </a:r>
            <a:br>
              <a:rPr lang="en-US" altLang="en-US" sz="2000" b="1">
                <a:latin typeface="Arial" panose="020B0604020202020204" pitchFamily="34" charset="0"/>
              </a:rPr>
            </a:br>
            <a:r>
              <a:rPr lang="en-US" altLang="en-US" sz="2000" b="1">
                <a:solidFill>
                  <a:srgbClr val="FFFFFF"/>
                </a:solidFill>
                <a:latin typeface="Segoe UI" panose="020B0604020202020204" pitchFamily="34" charset="0"/>
              </a:rPr>
              <a:t>	Rows:</a:t>
            </a:r>
            <a:r>
              <a:rPr lang="en-US" altLang="en-US" sz="2000">
                <a:solidFill>
                  <a:srgbClr val="FFFFFF"/>
                </a:solidFill>
                <a:latin typeface="Segoe UI" panose="020B0604020202020204" pitchFamily="34" charset="0"/>
              </a:rPr>
              <a:t> One row per school.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FFFFFF"/>
                </a:solidFill>
                <a:latin typeface="Segoe UI" panose="020B0604020202020204" pitchFamily="34" charset="0"/>
              </a:rPr>
              <a:t>	Columns:</a:t>
            </a:r>
            <a:r>
              <a:rPr lang="en-US" altLang="en-US" sz="2000">
                <a:solidFill>
                  <a:srgbClr val="FFFFFF"/>
                </a:solidFill>
                <a:latin typeface="Segoe UI" panose="020B0604020202020204" pitchFamily="34" charset="0"/>
              </a:rPr>
              <a:t> Attendance metrics, socioeconomic indicators,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>
                <a:solidFill>
                  <a:srgbClr val="FFFFFF"/>
                </a:solidFill>
                <a:latin typeface="Segoe UI" panose="020B0604020202020204" pitchFamily="34" charset="0"/>
              </a:rPr>
              <a:t>	grade-level attributes, and school characteristics.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69DD1-036E-2104-C354-EA563B8F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Segoe UI"/>
              </a:rPr>
              <a:t>Dataset – Absenteeism Data</a:t>
            </a:r>
            <a:endParaRPr lang="en-US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AD5B5A-CEAC-9F74-24C9-07F41DEA0CF4}"/>
              </a:ext>
            </a:extLst>
          </p:cNvPr>
          <p:cNvSpPr txBox="1"/>
          <p:nvPr/>
        </p:nvSpPr>
        <p:spPr>
          <a:xfrm>
            <a:off x="2871537" y="26950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97C69A-BC7C-9169-630E-08968A5DB15E}"/>
              </a:ext>
            </a:extLst>
          </p:cNvPr>
          <p:cNvSpPr txBox="1"/>
          <p:nvPr/>
        </p:nvSpPr>
        <p:spPr>
          <a:xfrm>
            <a:off x="4764505" y="2486526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143AD-D925-E602-2B9F-E67BD9764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/>
              </a:rPr>
              <a:t>Student Absenteeism Data (2020–2021)</a:t>
            </a:r>
          </a:p>
          <a:p>
            <a:pPr marL="1028700" lvl="1">
              <a:buChar char="•"/>
            </a:pPr>
            <a:r>
              <a:rPr lang="en-US" sz="24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Total enrollment and absence counts</a:t>
            </a:r>
            <a:endParaRPr lang="en-US">
              <a:ea typeface="+mn-lt"/>
              <a:cs typeface="+mn-lt"/>
            </a:endParaRPr>
          </a:p>
          <a:p>
            <a:pPr marL="1028700" lvl="1">
              <a:buChar char="•"/>
            </a:pPr>
            <a:r>
              <a:rPr lang="en-US" sz="24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Primary outcome variable</a:t>
            </a:r>
            <a:endParaRPr lang="en-US"/>
          </a:p>
          <a:p>
            <a:pPr marL="1028700" lvl="1">
              <a:buChar char="•"/>
            </a:pPr>
            <a:r>
              <a:rPr lang="en-US" sz="24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Used to calculate district-level absenteeism rate</a:t>
            </a:r>
            <a:endParaRPr lang="en-US"/>
          </a:p>
          <a:p>
            <a:r>
              <a:rPr lang="en-US" sz="2400" b="1">
                <a:solidFill>
                  <a:srgbClr val="FFFFFF"/>
                </a:solidFill>
                <a:latin typeface="Segoe UI"/>
              </a:rPr>
              <a:t>What we get from this dataset:</a:t>
            </a:r>
            <a:br>
              <a:rPr lang="en-US" sz="2400"/>
            </a:br>
            <a:r>
              <a:rPr lang="en-US" sz="2400">
                <a:solidFill>
                  <a:srgbClr val="FFFFFF"/>
                </a:solidFill>
                <a:latin typeface="Segoe UI"/>
              </a:rPr>
              <a:t>  Overall patterns of absenteeism that serve as the target outcome for analysis.</a:t>
            </a:r>
            <a:endParaRPr lang="en-US" sz="2400">
              <a:ea typeface="Calibri"/>
              <a:cs typeface="Calibri"/>
            </a:endParaRPr>
          </a:p>
          <a:p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88206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F783F-E6C0-E4C5-0955-7544550D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Segoe UI"/>
              </a:rPr>
              <a:t>Dataset – Socioeconomic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103AA-A3EE-9507-9D54-CA9AA4265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Socioeconomic Data (FRL)</a:t>
            </a:r>
          </a:p>
          <a:p>
            <a:r>
              <a:rPr lang="en-US" sz="24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Free &amp; Reduced Lunch counts</a:t>
            </a:r>
            <a:endParaRPr lang="en-US">
              <a:ea typeface="+mn-lt"/>
              <a:cs typeface="+mn-lt"/>
            </a:endParaRPr>
          </a:p>
          <a:p>
            <a:r>
              <a:rPr lang="en-US" sz="24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Proxy for economic disadvantage</a:t>
            </a:r>
            <a:endParaRPr lang="en-US"/>
          </a:p>
          <a:p>
            <a:r>
              <a:rPr lang="en-US" sz="24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Widely used in education research</a:t>
            </a:r>
            <a:endParaRPr lang="en-US">
              <a:ea typeface="+mn-lt"/>
              <a:cs typeface="+mn-lt"/>
            </a:endParaRPr>
          </a:p>
          <a:p>
            <a:endParaRPr lang="en-US" sz="2400"/>
          </a:p>
          <a:p>
            <a:pPr marL="0" indent="0">
              <a:buNone/>
            </a:pPr>
            <a:endParaRPr lang="en-US" sz="2400">
              <a:ea typeface="Calibri"/>
              <a:cs typeface="Calibri"/>
            </a:endParaRPr>
          </a:p>
          <a:p>
            <a:r>
              <a:rPr lang="en-US" sz="2400" b="1">
                <a:solidFill>
                  <a:srgbClr val="FFFFFF"/>
                </a:solidFill>
                <a:latin typeface="Segoe UI"/>
              </a:rPr>
              <a:t>What we get from this dataset: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FFFFFF"/>
                </a:solidFill>
                <a:latin typeface="Segoe UI"/>
              </a:rPr>
              <a:t>  Ability to study how </a:t>
            </a:r>
            <a:r>
              <a:rPr lang="en-US" sz="2400" b="1">
                <a:solidFill>
                  <a:srgbClr val="FFFFFF"/>
                </a:solidFill>
                <a:latin typeface="Segoe UI"/>
              </a:rPr>
              <a:t>economic disadvantage relates to absenteeism patterns.</a:t>
            </a:r>
            <a:endParaRPr lang="en-US" sz="2400">
              <a:ea typeface="Calibri"/>
              <a:cs typeface="Calibri"/>
            </a:endParaRPr>
          </a:p>
          <a:p>
            <a:endParaRPr lang="en-US" sz="2400"/>
          </a:p>
        </p:txBody>
      </p:sp>
      <p:sp>
        <p:nvSpPr>
          <p:cNvPr id="4" name="Rectangle 3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776022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90F43-CAD3-7DE8-454A-7E237BA52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696986" cy="762310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FF"/>
                </a:solidFill>
                <a:latin typeface="Segoe UI"/>
              </a:rPr>
              <a:t>Dataset Description – School Structure &amp;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DCCE0-E546-E2F1-3ECE-30024CA8F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328581" cy="490429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School Structure &amp; Context</a:t>
            </a:r>
            <a:endParaRPr lang="en-US" sz="2000" b="1">
              <a:ea typeface="Calibri"/>
              <a:cs typeface="Calibri"/>
            </a:endParaRPr>
          </a:p>
          <a:p>
            <a:r>
              <a:rPr lang="en-US" sz="20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Grade-level enrollment</a:t>
            </a:r>
            <a:endParaRPr lang="en-US"/>
          </a:p>
          <a:p>
            <a:r>
              <a:rPr lang="en-US" sz="20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Elementary vs secondary classification</a:t>
            </a:r>
            <a:endParaRPr lang="en-US"/>
          </a:p>
          <a:p>
            <a:r>
              <a:rPr lang="en-US" sz="20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District validation &amp; statewide context</a:t>
            </a:r>
            <a:endParaRPr lang="en-US"/>
          </a:p>
          <a:p>
            <a:endParaRPr lang="en-US" sz="2000" b="1"/>
          </a:p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Segoe UI"/>
              </a:rPr>
              <a:t>What we get from these datasets:</a:t>
            </a:r>
            <a:br>
              <a:rPr lang="en-US" sz="2000"/>
            </a:br>
            <a:r>
              <a:rPr lang="en-US" sz="2000">
                <a:solidFill>
                  <a:srgbClr val="FFFFFF"/>
                </a:solidFill>
                <a:latin typeface="Segoe UI"/>
              </a:rPr>
              <a:t>	Structural classification, validation, and statewide context to support analysis.</a:t>
            </a:r>
            <a:endParaRPr lang="en-US">
              <a:ea typeface="Calibri"/>
              <a:cs typeface="Calibri"/>
            </a:endParaRPr>
          </a:p>
          <a:p>
            <a:endParaRPr lang="en-US" sz="2000"/>
          </a:p>
        </p:txBody>
      </p:sp>
      <p:sp>
        <p:nvSpPr>
          <p:cNvPr id="4" name="Rectangle 3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865622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solidFill>
                  <a:srgbClr val="FFFFFF"/>
                </a:solidFill>
                <a:latin typeface="Segoe UI"/>
              </a:rPr>
              <a:t>Proposed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0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Merge datasets using consistent identifiers</a:t>
            </a:r>
            <a:endParaRPr lang="en-US"/>
          </a:p>
          <a:p>
            <a:r>
              <a:rPr lang="en-US" sz="20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Feature engineering</a:t>
            </a:r>
            <a:endParaRPr lang="en-US"/>
          </a:p>
          <a:p>
            <a:r>
              <a:rPr lang="en-US" sz="20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Exploratory data analysis</a:t>
            </a:r>
            <a:endParaRPr lang="en-US">
              <a:ea typeface="+mn-lt"/>
              <a:cs typeface="+mn-lt"/>
            </a:endParaRPr>
          </a:p>
          <a:p>
            <a:r>
              <a:rPr lang="en-US" sz="20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Supervised ML models</a:t>
            </a:r>
            <a:endParaRPr lang="en-US">
              <a:ea typeface="+mn-lt"/>
              <a:cs typeface="+mn-lt"/>
            </a:endParaRPr>
          </a:p>
          <a:p>
            <a:r>
              <a:rPr lang="en-US" sz="20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Compare separate vs combined predictors</a:t>
            </a:r>
            <a:endParaRPr lang="en-US"/>
          </a:p>
          <a:p>
            <a:r>
              <a:rPr lang="en-US" sz="20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Emphasis on interpretability</a:t>
            </a:r>
          </a:p>
          <a:p>
            <a:br>
              <a:rPr lang="en-US" sz="2000"/>
            </a:br>
            <a:endParaRPr lang="en-US" sz="2000">
              <a:ea typeface="Calibri"/>
              <a:cs typeface="Calibri"/>
            </a:endParaRPr>
          </a:p>
          <a:p>
            <a:endParaRPr sz="2000"/>
          </a:p>
        </p:txBody>
      </p:sp>
      <p:sp>
        <p:nvSpPr>
          <p:cNvPr id="4" name="Rectangle 3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solidFill>
                  <a:srgbClr val="FFFFFF"/>
                </a:solidFill>
                <a:latin typeface="Segoe UI"/>
              </a:rPr>
              <a:t>Dataset Details &amp; Data Preparation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4F058A-5943-1471-380C-E22765FA54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6498" y="2508804"/>
            <a:ext cx="810705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 panose="020B0604020202020204" pitchFamily="34" charset="0"/>
              </a:rPr>
              <a:t>Review and validate datasets for completeness and consistency.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 panose="020B0604020202020204" pitchFamily="34" charset="0"/>
              </a:rPr>
              <a:t>Align datasets using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 panose="020B0604020202020204" pitchFamily="34" charset="0"/>
              </a:rPr>
              <a:t>school identifiers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 panose="020B0604020202020204" pitchFamily="34" charset="0"/>
              </a:rPr>
              <a:t> and reporting year.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 panose="020B0604020202020204" pitchFamily="34" charset="0"/>
              </a:rPr>
              <a:t>Verify attendance and enrollment values for logical consistency.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 panose="020B0604020202020204" pitchFamily="34" charset="0"/>
              </a:rPr>
              <a:t>Derive school-type labels (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 panose="020B0604020202020204" pitchFamily="34" charset="0"/>
              </a:rPr>
              <a:t>elementary vs secondary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 panose="020B0604020202020204" pitchFamily="34" charset="0"/>
              </a:rPr>
              <a:t>) from grade membership.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 panose="020B0604020202020204" pitchFamily="34" charset="0"/>
              </a:rPr>
              <a:t>Structure the final dataset for exploratory analysis and modeling.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solidFill>
                  <a:srgbClr val="FFFFFF"/>
                </a:solidFill>
                <a:latin typeface="Segoe UI"/>
              </a:rPr>
              <a:t>Methodology Details &amp; Feature Handling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673E00-C00D-0FE3-E5E5-B26E550E5F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124248"/>
            <a:ext cx="7960936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 panose="020B0604020202020204" pitchFamily="34" charset="0"/>
              </a:rPr>
              <a:t>Define absenteeism measures as the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 panose="020B0604020202020204" pitchFamily="34" charset="0"/>
              </a:rPr>
              <a:t>target variable.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 panose="020B0604020202020204" pitchFamily="34" charset="0"/>
              </a:rPr>
              <a:t>Use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 panose="020B0604020202020204" pitchFamily="34" charset="0"/>
              </a:rPr>
              <a:t>Free &amp; Reduced Lunch proportions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 panose="020B0604020202020204" pitchFamily="34" charset="0"/>
              </a:rPr>
              <a:t> as key socioeconomic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 panose="020B0604020202020204" pitchFamily="34" charset="0"/>
              </a:rPr>
              <a:t>Aggregate grade-level enrollment to derive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 panose="020B0604020202020204" pitchFamily="34" charset="0"/>
              </a:rPr>
              <a:t>school-type indicators.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>
                <a:solidFill>
                  <a:srgbClr val="FFFFFF"/>
                </a:solidFill>
                <a:latin typeface="Segoe UI"/>
              </a:rPr>
              <a:t>Treat </a:t>
            </a:r>
            <a:r>
              <a:rPr lang="en-US" sz="2000" b="1">
                <a:solidFill>
                  <a:srgbClr val="FFFFFF"/>
                </a:solidFill>
                <a:latin typeface="Segoe UI"/>
              </a:rPr>
              <a:t>grade-level and socioeconomic variables as separate analytical dimensions.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 panose="020B0604020202020204" pitchFamily="34" charset="0"/>
              </a:rPr>
              <a:t>Select interpretable features to support meaningful insights.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62270-CCAF-DDB8-3661-7A540AB82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74" y="731837"/>
            <a:ext cx="6496060" cy="305111"/>
          </a:xfrm>
        </p:spPr>
        <p:txBody>
          <a:bodyPr>
            <a:no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/>
                <a:hlinkClick r:id="rId2"/>
              </a:rPr>
              <a:t>Socioeconomic status and school absenteeism: A systematic review and narrative synthesis - Sosu et al. (2021)</a:t>
            </a: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767DC-C74A-7B5B-7BE8-E2663942F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328" y="1866507"/>
            <a:ext cx="8149472" cy="4259656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>
                <a:solidFill>
                  <a:srgbClr val="FFFFFF"/>
                </a:solidFill>
                <a:latin typeface="Segoe UI"/>
              </a:rPr>
              <a:t>Systematic review synthesizing findings from 50+ empirical studies.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>
                <a:solidFill>
                  <a:srgbClr val="FFFFFF"/>
                </a:solidFill>
                <a:latin typeface="Segoe UI"/>
              </a:rPr>
              <a:t>Examines how socioeconomic status (SES) relates to student absenteeism.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>
                <a:solidFill>
                  <a:srgbClr val="FFFFFF"/>
                </a:solidFill>
                <a:latin typeface="Segoe UI"/>
              </a:rPr>
              <a:t>Covers multiple countries, education systems, and grade levels (primary to secondary education).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>
                <a:solidFill>
                  <a:srgbClr val="FFFFFF"/>
                </a:solidFill>
                <a:latin typeface="Segoe UI"/>
              </a:rPr>
              <a:t>Compares different approaches to measuring SES, including financial and non-financial indicators.</a:t>
            </a:r>
          </a:p>
          <a:p>
            <a:endParaRPr lang="en-US" sz="2400"/>
          </a:p>
        </p:txBody>
      </p:sp>
      <p:sp>
        <p:nvSpPr>
          <p:cNvPr id="4" name="Rectangle 3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82411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EE042-1316-8ECA-0FC9-FF6569401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Segoe UI"/>
              </a:rPr>
              <a:t>Literature Survey - Key Findings &amp; Relevance</a:t>
            </a:r>
            <a:endParaRPr lang="en-US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880CB-764A-0657-8FA0-D23BB97E6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>
                <a:solidFill>
                  <a:srgbClr val="FFFFFF"/>
                </a:solidFill>
                <a:latin typeface="Segoe UI"/>
              </a:rPr>
              <a:t>Key Findings:</a:t>
            </a:r>
          </a:p>
          <a:p>
            <a:r>
              <a:rPr lang="en-US" sz="2400">
                <a:solidFill>
                  <a:srgbClr val="FFFFFF"/>
                </a:solidFill>
                <a:latin typeface="Segoe UI"/>
              </a:rPr>
              <a:t>Lower socioeconomic status is consistently linked to higher absenteeism.</a:t>
            </a:r>
          </a:p>
          <a:p>
            <a:r>
              <a:rPr lang="en-US" sz="2400">
                <a:solidFill>
                  <a:srgbClr val="FFFFFF"/>
                </a:solidFill>
                <a:latin typeface="Segoe UI"/>
              </a:rPr>
              <a:t>Financial indicators (e.g., Free &amp; Reduced Lunch) show stronger associations.</a:t>
            </a:r>
          </a:p>
          <a:p>
            <a:r>
              <a:rPr lang="en-US" sz="2400">
                <a:solidFill>
                  <a:srgbClr val="FFFFFF"/>
                </a:solidFill>
                <a:latin typeface="Segoe UI"/>
              </a:rPr>
              <a:t>Effect sizes are small to moderate but consistent.</a:t>
            </a:r>
          </a:p>
          <a:p>
            <a:endParaRPr lang="en-US" sz="2400"/>
          </a:p>
          <a:p>
            <a:r>
              <a:rPr lang="en-US" sz="2400">
                <a:solidFill>
                  <a:srgbClr val="FFFFFF"/>
                </a:solidFill>
                <a:latin typeface="Segoe UI"/>
              </a:rPr>
              <a:t>Relevance to Project:</a:t>
            </a:r>
          </a:p>
          <a:p>
            <a:r>
              <a:rPr lang="en-US" sz="2400">
                <a:solidFill>
                  <a:srgbClr val="FFFFFF"/>
                </a:solidFill>
                <a:latin typeface="Segoe UI"/>
              </a:rPr>
              <a:t>Justifies using FRL % as a key predictor.</a:t>
            </a:r>
          </a:p>
          <a:p>
            <a:r>
              <a:rPr lang="en-US" sz="2400">
                <a:solidFill>
                  <a:srgbClr val="FFFFFF"/>
                </a:solidFill>
                <a:latin typeface="Segoe UI"/>
              </a:rPr>
              <a:t>Supports district-level socioeconomic analysis.</a:t>
            </a:r>
          </a:p>
          <a:p>
            <a:endParaRPr lang="en-US" sz="2400"/>
          </a:p>
        </p:txBody>
      </p:sp>
      <p:sp>
        <p:nvSpPr>
          <p:cNvPr id="4" name="Rectangle 3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198725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24409-C053-775C-BAA1-468AC0E4B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>
                <a:solidFill>
                  <a:srgbClr val="FFFFFF"/>
                </a:solidFill>
                <a:latin typeface="Segoe UI"/>
                <a:hlinkClick r:id="rId2"/>
              </a:rPr>
              <a:t>Using Data Mining To Predict Secondary School Student Performance</a:t>
            </a:r>
            <a:br>
              <a:rPr lang="en-US" sz="2800">
                <a:hlinkClick r:id="rId2"/>
              </a:rPr>
            </a:br>
            <a:r>
              <a:rPr lang="en-US" sz="2800">
                <a:solidFill>
                  <a:srgbClr val="FFFFFF"/>
                </a:solidFill>
                <a:latin typeface="Segoe UI"/>
                <a:hlinkClick r:id="rId2"/>
              </a:rPr>
              <a:t>Cortez &amp; Silva (2008)</a:t>
            </a:r>
            <a:br>
              <a:rPr lang="en-US" sz="2800">
                <a:hlinkClick r:id="rId2"/>
              </a:rPr>
            </a:br>
            <a:endParaRPr lang="en-US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23F9F-834D-CF92-EFFD-568B5F73E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en-US" sz="260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>
                <a:solidFill>
                  <a:srgbClr val="FFFFFF"/>
                </a:solidFill>
                <a:latin typeface="Segoe UI"/>
              </a:rPr>
              <a:t>Demonstrates how machine learning techniques can be applied to educational data.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>
                <a:solidFill>
                  <a:srgbClr val="FFFFFF"/>
                </a:solidFill>
                <a:latin typeface="Segoe UI"/>
              </a:rPr>
              <a:t>Uses student-level demographic, family, behavioral, and attendance variables.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>
                <a:solidFill>
                  <a:srgbClr val="FFFFFF"/>
                </a:solidFill>
                <a:latin typeface="Segoe UI"/>
              </a:rPr>
              <a:t>Analyzes data collected from two public secondary schools in Portugal.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>
                <a:solidFill>
                  <a:srgbClr val="FFFFFF"/>
                </a:solidFill>
                <a:latin typeface="Segoe UI"/>
              </a:rPr>
              <a:t>Explores how different feature groups contribute to predictive performance.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r>
              <a:rPr lang="en-US">
                <a:solidFill>
                  <a:srgbClr val="FFFFFF"/>
                </a:solidFill>
                <a:latin typeface="Segoe UI"/>
              </a:rPr>
              <a:t>Models Used:</a:t>
            </a:r>
          </a:p>
          <a:p>
            <a:r>
              <a:rPr lang="en-US">
                <a:solidFill>
                  <a:srgbClr val="FFFFFF"/>
                </a:solidFill>
                <a:latin typeface="Segoe UI"/>
              </a:rPr>
              <a:t>Decision Trees, Random Forests, Neural Networks, SVM.</a:t>
            </a:r>
          </a:p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059275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D0EB7-A75D-830E-738C-0E2FF6BBD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Segoe UI"/>
              </a:rPr>
              <a:t>Literature Survey – Key Findings &amp; Relevance</a:t>
            </a:r>
            <a:endParaRPr lang="en-US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1A248-6A1B-FD03-DFF6-78C2F793F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FFFFFF"/>
                </a:solidFill>
                <a:latin typeface="Segoe UI"/>
              </a:rPr>
              <a:t>Key Findings:</a:t>
            </a:r>
          </a:p>
          <a:p>
            <a:r>
              <a:rPr lang="en-US" sz="2400">
                <a:solidFill>
                  <a:srgbClr val="FFFFFF"/>
                </a:solidFill>
                <a:latin typeface="Segoe UI"/>
              </a:rPr>
              <a:t>Absences are an important predictive feature.</a:t>
            </a:r>
          </a:p>
          <a:p>
            <a:r>
              <a:rPr lang="en-US" sz="2400">
                <a:solidFill>
                  <a:srgbClr val="FFFFFF"/>
                </a:solidFill>
                <a:latin typeface="Segoe UI"/>
              </a:rPr>
              <a:t>Tree-based models perform well and are interpretable.</a:t>
            </a:r>
          </a:p>
          <a:p>
            <a:r>
              <a:rPr lang="en-US" sz="2400">
                <a:solidFill>
                  <a:srgbClr val="FFFFFF"/>
                </a:solidFill>
                <a:latin typeface="Segoe UI"/>
              </a:rPr>
              <a:t>Attendance strongly influences outcomes.</a:t>
            </a:r>
          </a:p>
          <a:p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FFFFFF"/>
                </a:solidFill>
                <a:latin typeface="Segoe UI"/>
              </a:rPr>
              <a:t>Relevance to Project:</a:t>
            </a:r>
          </a:p>
          <a:p>
            <a:r>
              <a:rPr lang="en-US" sz="2400">
                <a:solidFill>
                  <a:srgbClr val="FFFFFF"/>
                </a:solidFill>
                <a:latin typeface="Segoe UI"/>
              </a:rPr>
              <a:t>Supports ML-based analysis of attendance.</a:t>
            </a:r>
          </a:p>
          <a:p>
            <a:r>
              <a:rPr lang="en-US" sz="2400">
                <a:solidFill>
                  <a:srgbClr val="FFFFFF"/>
                </a:solidFill>
                <a:latin typeface="Segoe UI"/>
              </a:rPr>
              <a:t>Justifies use of interpretable ML models at district level.</a:t>
            </a:r>
          </a:p>
          <a:p>
            <a:endParaRPr lang="en-US" sz="2400"/>
          </a:p>
        </p:txBody>
      </p:sp>
      <p:sp>
        <p:nvSpPr>
          <p:cNvPr id="4" name="Rectangle 3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58138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70233-723E-6684-EA8B-06EE504B7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i="1">
                <a:solidFill>
                  <a:srgbClr val="FFFFFF"/>
                </a:solidFill>
                <a:latin typeface="Segoe UI"/>
                <a:ea typeface="+mj-lt"/>
                <a:cs typeface="+mj-lt"/>
                <a:hlinkClick r:id="rId2"/>
              </a:rPr>
              <a:t>Missing as little as 10% of school can impact test scores and the odds of attending college, study finds</a:t>
            </a:r>
            <a:r>
              <a:rPr lang="en-US" sz="2800">
                <a:solidFill>
                  <a:srgbClr val="FFFFFF"/>
                </a:solidFill>
                <a:latin typeface="Segoe UI"/>
                <a:ea typeface="+mj-lt"/>
                <a:cs typeface="+mj-lt"/>
                <a:hlinkClick r:id="rId2"/>
              </a:rPr>
              <a:t> — Nebraska Public Media News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0FF05-6CB0-A149-71B3-0948EFA92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Chronic absenteeism (missing ≥10% of school days) increased significantly in Nebraska following the COVID-19 pandemic.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Approximately </a:t>
            </a:r>
            <a:r>
              <a:rPr lang="en-US" sz="1600" b="1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20% of Nebraska students</a:t>
            </a:r>
            <a:r>
              <a:rPr lang="en-US" sz="16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 are chronically absent, with higher rates persisting even after schools reopened.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Chronic absenteeism is associated with </a:t>
            </a:r>
            <a:r>
              <a:rPr lang="en-US" sz="1600" b="1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lower standardized test scores</a:t>
            </a:r>
            <a:r>
              <a:rPr lang="en-US" sz="16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 and </a:t>
            </a:r>
            <a:r>
              <a:rPr lang="en-US" sz="1600" b="1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reduced likelihood of college enrollment</a:t>
            </a:r>
            <a:r>
              <a:rPr lang="en-US" sz="16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.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Significant </a:t>
            </a:r>
            <a:r>
              <a:rPr lang="en-US" sz="1600" b="1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demographic disparities</a:t>
            </a:r>
            <a:r>
              <a:rPr lang="en-US" sz="16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 exist:</a:t>
            </a:r>
            <a:endParaRPr lang="en-US" sz="1600">
              <a:ea typeface="Calibri"/>
              <a:cs typeface="Calibri"/>
            </a:endParaRPr>
          </a:p>
          <a:p>
            <a:pPr lvl="1"/>
            <a:r>
              <a:rPr lang="en-US" sz="16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Students of color and Indigenous students experience substantially higher absenteeism rates.</a:t>
            </a:r>
            <a:endParaRPr lang="en-US" sz="1600">
              <a:ea typeface="Calibri"/>
              <a:cs typeface="Calibri"/>
            </a:endParaRPr>
          </a:p>
          <a:p>
            <a:pPr lvl="1"/>
            <a:r>
              <a:rPr lang="en-US" sz="16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Absenteeism increases with grade level, peaking in high school.</a:t>
            </a:r>
            <a:endParaRPr lang="en-US">
              <a:ea typeface="+mn-lt"/>
              <a:cs typeface="+mn-lt"/>
            </a:endParaRPr>
          </a:p>
          <a:p>
            <a:pPr lvl="1"/>
            <a:r>
              <a:rPr lang="en-US" b="1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Relevance to This Project:</a:t>
            </a:r>
            <a:endParaRPr lang="en-US">
              <a:ea typeface="Calibri"/>
              <a:cs typeface="Calibri"/>
            </a:endParaRPr>
          </a:p>
          <a:p>
            <a:r>
              <a:rPr lang="en-US" sz="16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Demonstrates that absenteeism in Nebraska is </a:t>
            </a:r>
            <a:r>
              <a:rPr lang="en-US" sz="1600" b="1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not evenly distributed</a:t>
            </a:r>
            <a:r>
              <a:rPr lang="en-US" sz="16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 across demographic groups.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Justifies analyzing </a:t>
            </a:r>
            <a:r>
              <a:rPr lang="en-US" sz="1600" b="1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race and grade-level composition</a:t>
            </a:r>
            <a:r>
              <a:rPr lang="en-US" sz="1600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 as predictors of district-level absenteeism.</a:t>
            </a:r>
            <a:endParaRPr lang="en-US" sz="1600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93174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B4CCA-F2A0-F095-9821-FDD73FAF5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>
                <a:solidFill>
                  <a:srgbClr val="FFFFFF"/>
                </a:solidFill>
                <a:latin typeface="Segoe UI"/>
                <a:ea typeface="+mj-lt"/>
                <a:cs typeface="+mj-lt"/>
                <a:hlinkClick r:id="rId2"/>
              </a:rPr>
              <a:t>A randomized experiment using absenteeism information to “nudge” attendance.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89FAF-C24E-B06C-CBDC-18237E149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b="1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Intervention Evidence for Attendance Responsiveness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Rogers et al. (2017) conducted a randomized controlled trial testing whether providing attendance information to parents could reduce student absences. </a:t>
            </a:r>
            <a:endParaRPr lang="en-US"/>
          </a:p>
          <a:p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A single low-cost postcard intervention reduced absences by approximately </a:t>
            </a:r>
            <a:r>
              <a:rPr lang="en-US" b="1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2.4%</a:t>
            </a:r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, demonstrating that absenteeism is </a:t>
            </a:r>
            <a:r>
              <a:rPr lang="en-US" b="1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behaviorally responsive and policy-relevant</a:t>
            </a:r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. </a:t>
            </a:r>
            <a:endParaRPr lang="en-US"/>
          </a:p>
          <a:p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The intervention effect did </a:t>
            </a:r>
            <a:r>
              <a:rPr lang="en-US" b="1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not differ significantly</a:t>
            </a:r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 between elementary (grades 1–8) and secondary (grades 9–12) students. </a:t>
            </a:r>
            <a:endParaRPr lang="en-US"/>
          </a:p>
          <a:p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The study controlled for </a:t>
            </a:r>
            <a:r>
              <a:rPr lang="en-US" b="1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demographic and socioeconomic characteristics</a:t>
            </a:r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, supporting their relevance in attendance analysis. </a:t>
            </a:r>
            <a:endParaRPr lang="en-US"/>
          </a:p>
          <a:p>
            <a:pPr marL="0" indent="0">
              <a:buNone/>
            </a:pPr>
            <a:r>
              <a:rPr lang="en-US" b="1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Relevance to This Project: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Establishes absenteeism as a measurable outcome that can be influenced through targeted actions.</a:t>
            </a:r>
            <a:endParaRPr lang="en-US"/>
          </a:p>
          <a:p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Motivates predictive modeling to identify districts at higher absenteeism risk prior to intervention.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2545691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7208A-ED22-34D2-0CB7-BA107CE6F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Segoe UI"/>
                <a:ea typeface="Calibri"/>
                <a:cs typeface="Calibri"/>
              </a:rPr>
              <a:t>Literature Insight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1F0BC-B549-9BE7-82CD-E7BB1FC7B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Integrated Findings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Absenteeism varies by demographic and grade-level factors.</a:t>
            </a:r>
            <a:endParaRPr lang="en-US"/>
          </a:p>
          <a:p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Attendance is responsive to targeted intervention.</a:t>
            </a:r>
            <a:endParaRPr lang="en-US"/>
          </a:p>
          <a:p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Predictive modeling can identify high-risk districts early.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645576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E18C8-9215-2430-08F0-09E3BEE5F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Segoe UI"/>
                <a:ea typeface="Calibri"/>
                <a:cs typeface="Calibri"/>
              </a:rPr>
              <a:t>Project Impact and Scalability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38869-833C-CE44-502B-BDE182B62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b="1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Project Impact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Integrates demographic, socioeconomic, and structural data to model </a:t>
            </a:r>
            <a:r>
              <a:rPr lang="en-US" b="1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district-level absenteeism risk</a:t>
            </a:r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Shows absenteeism risk emerges from </a:t>
            </a:r>
            <a:r>
              <a:rPr lang="en-US" b="1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combined contextual factors</a:t>
            </a:r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, not single variables.</a:t>
            </a:r>
            <a:endParaRPr lang="en-US"/>
          </a:p>
          <a:p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Identifies high-risk district profiles to support </a:t>
            </a:r>
            <a:r>
              <a:rPr lang="en-US" b="1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data-driven planning and intervention</a:t>
            </a:r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b="1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Scalable Future Work</a:t>
            </a:r>
            <a:endParaRPr lang="en-US"/>
          </a:p>
          <a:p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Extend analysis across </a:t>
            </a:r>
            <a:r>
              <a:rPr lang="en-US" b="1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multiple years</a:t>
            </a:r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 to capture trends.</a:t>
            </a:r>
            <a:endParaRPr lang="en-US"/>
          </a:p>
          <a:p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Apply the framework at </a:t>
            </a:r>
            <a:r>
              <a:rPr lang="en-US" b="1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school or student level</a:t>
            </a:r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 with approved access.</a:t>
            </a:r>
            <a:endParaRPr lang="en-US"/>
          </a:p>
          <a:p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Incorporate additional contextual features and deploy </a:t>
            </a:r>
            <a:r>
              <a:rPr lang="en-US" b="1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early-warning dashboards</a:t>
            </a:r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Adapt the approach to </a:t>
            </a:r>
            <a:r>
              <a:rPr lang="en-US" b="1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other states or districts</a:t>
            </a:r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 for broader policy use.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1324958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C9F96-22B9-8A69-758D-F68A6180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Segoe UI"/>
                <a:ea typeface="Calibri"/>
                <a:cs typeface="Calibri"/>
              </a:rPr>
              <a:t>High level AI/ML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13F63-9F79-C8C2-9294-C24618AD8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Combine attendance, student demographics, socioeconomic, and district information into one dataset.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Create clear and meaningful indicators related to absenteeism.</a:t>
            </a:r>
            <a:endParaRPr lang="en-US"/>
          </a:p>
          <a:p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Use data-driven methods to study how these factors relate to absenteeism.</a:t>
            </a:r>
            <a:endParaRPr lang="en-US"/>
          </a:p>
          <a:p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Compare different modeling approaches to understand patterns and trends.</a:t>
            </a:r>
            <a:endParaRPr lang="en-US"/>
          </a:p>
          <a:p>
            <a:r>
              <a:rPr lang="en-US">
                <a:solidFill>
                  <a:srgbClr val="FFFFFF"/>
                </a:solidFill>
                <a:latin typeface="Segoe UI"/>
                <a:ea typeface="+mn-lt"/>
                <a:cs typeface="+mn-lt"/>
              </a:rPr>
              <a:t>Use results to highlight districts with higher absenteeism risk and inform planning efforts.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013041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>
                <a:solidFill>
                  <a:srgbClr val="FFFFFF"/>
                </a:solidFill>
                <a:latin typeface="Segoe UI"/>
              </a:rPr>
              <a:t>Conclusion &amp; Integrated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>
                <a:solidFill>
                  <a:srgbClr val="FFFFFF"/>
                </a:solidFill>
                <a:latin typeface="Segoe UI"/>
              </a:rPr>
              <a:t>Integrates attendance, </a:t>
            </a:r>
            <a:r>
              <a:rPr lang="en-US" sz="2400" b="1">
                <a:solidFill>
                  <a:srgbClr val="FFFFFF"/>
                </a:solidFill>
                <a:latin typeface="Segoe UI"/>
              </a:rPr>
              <a:t>socioeconomic</a:t>
            </a:r>
            <a:r>
              <a:rPr lang="en-US" sz="2400">
                <a:solidFill>
                  <a:srgbClr val="FFFFFF"/>
                </a:solidFill>
                <a:latin typeface="Segoe UI"/>
              </a:rPr>
              <a:t>, and </a:t>
            </a:r>
            <a:r>
              <a:rPr lang="en-US" sz="2400" b="1">
                <a:solidFill>
                  <a:srgbClr val="FFFFFF"/>
                </a:solidFill>
                <a:latin typeface="Segoe UI"/>
              </a:rPr>
              <a:t>grade-level</a:t>
            </a:r>
            <a:r>
              <a:rPr lang="en-US" sz="2400">
                <a:solidFill>
                  <a:srgbClr val="FFFFFF"/>
                </a:solidFill>
                <a:latin typeface="Segoe UI"/>
              </a:rPr>
              <a:t> information.</a:t>
            </a:r>
          </a:p>
          <a:p>
            <a:pPr marL="0" indent="0">
              <a:buNone/>
            </a:pPr>
            <a:endParaRPr lang="en-US" sz="2400"/>
          </a:p>
          <a:p>
            <a:r>
              <a:rPr lang="en-US" sz="2400">
                <a:solidFill>
                  <a:srgbClr val="FFFFFF"/>
                </a:solidFill>
                <a:latin typeface="Segoe UI"/>
              </a:rPr>
              <a:t>Combines insights from </a:t>
            </a:r>
            <a:r>
              <a:rPr lang="en-US" sz="2400" b="1">
                <a:solidFill>
                  <a:srgbClr val="FFFFFF"/>
                </a:solidFill>
                <a:latin typeface="Segoe UI"/>
              </a:rPr>
              <a:t>separate analyses</a:t>
            </a:r>
            <a:r>
              <a:rPr lang="en-US" sz="2400">
                <a:solidFill>
                  <a:srgbClr val="FFFFFF"/>
                </a:solidFill>
                <a:latin typeface="Segoe UI"/>
              </a:rPr>
              <a:t> to understand absenteeism patterns.</a:t>
            </a:r>
          </a:p>
          <a:p>
            <a:endParaRPr lang="en-US" sz="2400"/>
          </a:p>
          <a:p>
            <a:r>
              <a:rPr lang="en-US" sz="2400">
                <a:solidFill>
                  <a:srgbClr val="FFFFFF"/>
                </a:solidFill>
                <a:latin typeface="Segoe UI"/>
              </a:rPr>
              <a:t>Highlights how different factors contribute to absenteeism across school types.</a:t>
            </a:r>
          </a:p>
          <a:p>
            <a:endParaRPr lang="en-US" sz="2400"/>
          </a:p>
          <a:p>
            <a:r>
              <a:rPr lang="en-US" sz="2400">
                <a:solidFill>
                  <a:srgbClr val="FFFFFF"/>
                </a:solidFill>
                <a:latin typeface="Segoe UI"/>
              </a:rPr>
              <a:t>Findings aim to support </a:t>
            </a:r>
            <a:r>
              <a:rPr lang="en-US" sz="2400" b="1">
                <a:solidFill>
                  <a:srgbClr val="FFFFFF"/>
                </a:solidFill>
                <a:latin typeface="Segoe UI"/>
              </a:rPr>
              <a:t>data-informed educational planning and interventions.</a:t>
            </a:r>
            <a:endParaRPr lang="en-US" sz="2400"/>
          </a:p>
          <a:p>
            <a:endParaRPr sz="2400"/>
          </a:p>
        </p:txBody>
      </p:sp>
      <p:sp>
        <p:nvSpPr>
          <p:cNvPr id="4" name="Rectangle 3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FD25D-0E99-F196-685B-C46B7BB72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Links to 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B7F2E-ED0D-6BDE-B2DD-BC9ECFD6E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>
                <a:hlinkClick r:id="rId2"/>
              </a:rPr>
              <a:t>https://www.education.ne.gov/wp-content/uploads/2023/09/A-randomized-experiment.pdf</a:t>
            </a:r>
            <a:endParaRPr lang="en-US"/>
          </a:p>
          <a:p>
            <a:r>
              <a:rPr lang="en-US">
                <a:hlinkClick r:id="rId3"/>
              </a:rPr>
              <a:t>https://nebraskapublicmedia.org/en/news/news-articles/missing-as-little-as-10-of-school-can-impact-test-scores-and-the-odds-of-attending-college-study-finds/</a:t>
            </a:r>
            <a:endParaRPr lang="en-US"/>
          </a:p>
          <a:p>
            <a:r>
              <a:rPr lang="en-US">
                <a:hlinkClick r:id="rId4"/>
              </a:rPr>
              <a:t>https://www.academia.edu/49142840/Using_data_mining_to_predict_secondary_school_student_performance</a:t>
            </a:r>
            <a:endParaRPr lang="en-US"/>
          </a:p>
          <a:p>
            <a:r>
              <a:rPr lang="en-US">
                <a:hlinkClick r:id="rId5"/>
              </a:rPr>
              <a:t>https://bera-journals.onlinelibrary.wiley.com/doi/full/10.1002/rev3.3291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224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30A11D27FD47408DDFE43BFF3B762B" ma:contentTypeVersion="3" ma:contentTypeDescription="Create a new document." ma:contentTypeScope="" ma:versionID="bbf18b251ddc650cee8ef9ae1a71021e">
  <xsd:schema xmlns:xsd="http://www.w3.org/2001/XMLSchema" xmlns:xs="http://www.w3.org/2001/XMLSchema" xmlns:p="http://schemas.microsoft.com/office/2006/metadata/properties" xmlns:ns2="4efa7ce2-4780-4782-a504-a5a1afa26d9a" targetNamespace="http://schemas.microsoft.com/office/2006/metadata/properties" ma:root="true" ma:fieldsID="f1ad22d91e3b16d28a427ba46eb87f29" ns2:_="">
    <xsd:import namespace="4efa7ce2-4780-4782-a504-a5a1afa26d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fa7ce2-4780-4782-a504-a5a1afa26d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1CD8FD-AB1F-4112-AB7F-073B02F63763}">
  <ds:schemaRefs>
    <ds:schemaRef ds:uri="4efa7ce2-4780-4782-a504-a5a1afa26d9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53E25E7-2C47-4CED-A1E7-FF24E61ABDE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0B62379-4480-443E-8C4B-09D83CED53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26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 A Data-Driven Analysis of Factors Affecting Student Absenteeism in Nebraska Schools</vt:lpstr>
      <vt:lpstr>Introduction – Abhinav</vt:lpstr>
      <vt:lpstr>My Role in the Project – Abhinav</vt:lpstr>
      <vt:lpstr>Introduction – NileshPurnekar</vt:lpstr>
      <vt:lpstr>My Role in the Project  Nilesh</vt:lpstr>
      <vt:lpstr>Problem Statement</vt:lpstr>
      <vt:lpstr>Project Objectives (SMART)</vt:lpstr>
      <vt:lpstr>Proposed Project Timeline- Grantt Chart</vt:lpstr>
      <vt:lpstr>Dataset Overview </vt:lpstr>
      <vt:lpstr>Dataset – Absenteeism Data</vt:lpstr>
      <vt:lpstr>Dataset – Socioeconomic Data</vt:lpstr>
      <vt:lpstr>Dataset Description – School Structure &amp; Context</vt:lpstr>
      <vt:lpstr>Proposed Methodology</vt:lpstr>
      <vt:lpstr>Dataset Details &amp; Data Preparation</vt:lpstr>
      <vt:lpstr>Methodology Details &amp; Feature Handling</vt:lpstr>
      <vt:lpstr>Socioeconomic status and school absenteeism: A systematic review and narrative synthesis - Sosu et al. (2021)</vt:lpstr>
      <vt:lpstr>Literature Survey - Key Findings &amp; Relevance</vt:lpstr>
      <vt:lpstr>Using Data Mining To Predict Secondary School Student Performance Cortez &amp; Silva (2008) </vt:lpstr>
      <vt:lpstr>Literature Survey – Key Findings &amp; Relevance</vt:lpstr>
      <vt:lpstr>Missing as little as 10% of school can impact test scores and the odds of attending college, study finds — Nebraska Public Media News</vt:lpstr>
      <vt:lpstr>A randomized experiment using absenteeism information to “nudge” attendance.</vt:lpstr>
      <vt:lpstr>Literature Insight</vt:lpstr>
      <vt:lpstr>Project Impact and Scalability</vt:lpstr>
      <vt:lpstr>High level AI/ML Approach</vt:lpstr>
      <vt:lpstr>Conclusion &amp; Integrated Outcome</vt:lpstr>
      <vt:lpstr>Links to literature survey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2</cp:revision>
  <dcterms:created xsi:type="dcterms:W3CDTF">2013-01-27T09:14:16Z</dcterms:created>
  <dcterms:modified xsi:type="dcterms:W3CDTF">2026-04-29T04:51:21Z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0x0101003F30A11D27FD47408DDFE43BFF3B762B</vt:lpwstr>
  </property>
</Properties>
</file>